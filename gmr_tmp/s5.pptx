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theme" Target="theme/theme1.xml"/><Relationship Id="rId8" Type="http://schemas.openxmlformats.org/officeDocument/2006/relationships/presProps" Target="presProps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rgbClr val="1F4E79"/>
          </a:solidFill>
          <a:latin typeface="Microsoft YaHei"/>
          <a:ea typeface="微软雅黑"/>
        </a:defRPr>
      </a:lvl1pPr>
    </p:titleStyle>
    <p:bodyStyle>
      <a:lvl1pPr>
        <a:defRPr sz="1800">
          <a:solidFill>
            <a:srgbClr val="262626"/>
          </a:solidFill>
          <a:latin typeface="Microsoft YaHei"/>
          <a:ea typeface="微软雅黑"/>
        </a:defRPr>
      </a:lvl1pPr>
    </p:bodyStyle>
    <p:otherStyle>
      <a:lvl1pPr>
        <a:defRPr sz="1800">
          <a:latin typeface="Microsoft YaHei"/>
          <a:ea typeface="微软雅黑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ig2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ig3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ig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rc3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rc4"/>
          <p:cNvSpPr/>
          <p:nvPr/>
        </p:nvSpPr>
        <p:spPr>
          <a:xfrm>
            <a:off x="0" y="6738000"/>
            <a:ext cx="12192000" cy="12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tx5"/>
          <p:cNvSpPr txBox="1"/>
          <p:nvPr/>
        </p:nvSpPr>
        <p:spPr>
          <a:xfrm>
            <a:off x="600000" y="1250000"/>
            <a:ext cx="1099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52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巨磁阻效应及应用</a:t>
            </a:r>
          </a:p>
        </p:txBody>
      </p:sp>
      <p:sp>
        <p:nvSpPr>
          <p:cNvPr id="6" name="tx6"/>
          <p:cNvSpPr txBox="1"/>
          <p:nvPr/>
        </p:nvSpPr>
        <p:spPr>
          <a:xfrm>
            <a:off x="600000" y="2180000"/>
            <a:ext cx="109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9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GMR 磁阻特性 · 齿轮角位移 · 磁记录与读出 · 两项拓展</a:t>
            </a:r>
          </a:p>
        </p:txBody>
      </p:sp>
      <p:sp>
        <p:nvSpPr>
          <p:cNvPr id="7" name="rc7"/>
          <p:cNvSpPr/>
          <p:nvPr/>
        </p:nvSpPr>
        <p:spPr>
          <a:xfrm>
            <a:off x="600000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8" name="tx8"/>
          <p:cNvSpPr txBox="1"/>
          <p:nvPr/>
        </p:nvSpPr>
        <p:spPr>
          <a:xfrm>
            <a:off x="750000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① 磁阻特性</a:t>
            </a:r>
          </a:p>
        </p:txBody>
      </p:sp>
      <p:sp>
        <p:nvSpPr>
          <p:cNvPr id="9" name="tx9"/>
          <p:cNvSpPr txBox="1"/>
          <p:nvPr/>
        </p:nvSpPr>
        <p:spPr>
          <a:xfrm>
            <a:off x="720000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ΔR/R₀ = 13.93 %</a:t>
            </a:r>
          </a:p>
        </p:txBody>
      </p:sp>
      <p:sp>
        <p:nvSpPr>
          <p:cNvPr id="10" name="rc10"/>
          <p:cNvSpPr/>
          <p:nvPr/>
        </p:nvSpPr>
        <p:spPr>
          <a:xfrm>
            <a:off x="3430666.6666666665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1" name="tx11"/>
          <p:cNvSpPr txBox="1"/>
          <p:nvPr/>
        </p:nvSpPr>
        <p:spPr>
          <a:xfrm>
            <a:off x="3580666.6666666665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② 角位移</a:t>
            </a:r>
          </a:p>
        </p:txBody>
      </p:sp>
      <p:sp>
        <p:nvSpPr>
          <p:cNvPr id="12" name="tx12"/>
          <p:cNvSpPr txBox="1"/>
          <p:nvPr/>
        </p:nvSpPr>
        <p:spPr>
          <a:xfrm>
            <a:off x="3550666.6666666665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T = 24° → 15 齿</a:t>
            </a:r>
          </a:p>
        </p:txBody>
      </p:sp>
      <p:sp>
        <p:nvSpPr>
          <p:cNvPr id="13" name="rc13"/>
          <p:cNvSpPr/>
          <p:nvPr/>
        </p:nvSpPr>
        <p:spPr>
          <a:xfrm>
            <a:off x="6261333.333333333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4" name="tx14"/>
          <p:cNvSpPr txBox="1"/>
          <p:nvPr/>
        </p:nvSpPr>
        <p:spPr>
          <a:xfrm>
            <a:off x="6411333.333333333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③ 磁记录</a:t>
            </a:r>
          </a:p>
        </p:txBody>
      </p:sp>
      <p:sp>
        <p:nvSpPr>
          <p:cNvPr id="15" name="tx15"/>
          <p:cNvSpPr txBox="1"/>
          <p:nvPr/>
        </p:nvSpPr>
        <p:spPr>
          <a:xfrm>
            <a:off x="6381333.333333333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8 位全对</a:t>
            </a:r>
          </a:p>
        </p:txBody>
      </p:sp>
      <p:sp>
        <p:nvSpPr>
          <p:cNvPr id="16" name="rc16"/>
          <p:cNvSpPr/>
          <p:nvPr/>
        </p:nvSpPr>
        <p:spPr>
          <a:xfrm>
            <a:off x="9092000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7" name="tx17"/>
          <p:cNvSpPr txBox="1"/>
          <p:nvPr/>
        </p:nvSpPr>
        <p:spPr>
          <a:xfrm>
            <a:off x="9242000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④ 拓展（三选二）</a:t>
            </a:r>
          </a:p>
        </p:txBody>
      </p:sp>
      <p:sp>
        <p:nvSpPr>
          <p:cNvPr id="18" name="tx18"/>
          <p:cNvSpPr txBox="1"/>
          <p:nvPr/>
        </p:nvSpPr>
        <p:spPr>
          <a:xfrm>
            <a:off x="9212000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测电流 + 开关</a:t>
            </a:r>
          </a:p>
        </p:txBody>
      </p:sp>
      <p:sp>
        <p:nvSpPr>
          <p:cNvPr id="19" name="tx19"/>
          <p:cNvSpPr txBox="1"/>
          <p:nvPr/>
        </p:nvSpPr>
        <p:spPr>
          <a:xfrm>
            <a:off x="600000" y="4500000"/>
            <a:ext cx="1099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5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姓名：              学号：              同组人：</a:t>
            </a:r>
          </a:p>
          <a:p>
            <a:pPr marL="0" indent="0"/>
            <a:r>
              <a:rPr lang="zh-CN" altLang="en-US" sz="15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实验日期：2026 年    月    日          指导教师：</a:t>
            </a:r>
          </a:p>
        </p:txBody>
      </p:sp>
      <p:sp>
        <p:nvSpPr>
          <p:cNvPr id="20" name="tx20"/>
          <p:cNvSpPr txBox="1"/>
          <p:nvPr/>
        </p:nvSpPr>
        <p:spPr>
          <a:xfrm>
            <a:off x="600000" y="5850000"/>
            <a:ext cx="1099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2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汇报时长 2 分钟 · 共 7 页 · 成员互评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c21"/>
          <p:cNvSpPr/>
          <p:nvPr/>
        </p:nvSpPr>
        <p:spPr>
          <a:xfrm>
            <a:off x="600000" y="330000"/>
            <a:ext cx="90000" cy="5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2" name="tx22"/>
          <p:cNvSpPr txBox="1"/>
          <p:nvPr/>
        </p:nvSpPr>
        <p:spPr>
          <a:xfrm>
            <a:off x="800000" y="330000"/>
            <a:ext cx="95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5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原理：自旋相关散射 → 电阻随磁化取向改变</a:t>
            </a:r>
          </a:p>
        </p:txBody>
      </p:sp>
      <p:sp>
        <p:nvSpPr>
          <p:cNvPr id="23" name="tx23"/>
          <p:cNvSpPr txBox="1"/>
          <p:nvPr/>
        </p:nvSpPr>
        <p:spPr>
          <a:xfrm>
            <a:off x="10292000" y="360000"/>
            <a:ext cx="1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2 / 7</a:t>
            </a:r>
          </a:p>
        </p:txBody>
      </p:sp>
      <p:sp>
        <p:nvSpPr>
          <p:cNvPr id="24" name="rc24"/>
          <p:cNvSpPr/>
          <p:nvPr/>
        </p:nvSpPr>
        <p:spPr>
          <a:xfrm>
            <a:off x="600000" y="900000"/>
            <a:ext cx="10992000" cy="56000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5" name="tx25"/>
          <p:cNvSpPr txBox="1"/>
          <p:nvPr/>
        </p:nvSpPr>
        <p:spPr>
          <a:xfrm>
            <a:off x="860000" y="1030000"/>
            <a:ext cx="10472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一句话结论  </a:t>
            </a:r>
            <a:r>
              <a:rPr lang="zh-CN" altLang="en-US" sz="1500" b="1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GMR 把“磁化相对取向”转成“电阻变化”，因此既能测弱磁场，也能测位置与电流。</a:t>
            </a:r>
          </a:p>
        </p:txBody>
      </p:sp>
      <p:sp>
        <p:nvSpPr>
          <p:cNvPr id="26" name="tx26"/>
          <p:cNvSpPr txBox="1"/>
          <p:nvPr/>
        </p:nvSpPr>
        <p:spPr>
          <a:xfrm>
            <a:off x="600000" y="1740000"/>
            <a:ext cx="5296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7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机理</a:t>
            </a:r>
          </a:p>
        </p:txBody>
      </p:sp>
      <p:sp>
        <p:nvSpPr>
          <p:cNvPr id="27" name="tx27"/>
          <p:cNvSpPr txBox="1"/>
          <p:nvPr/>
        </p:nvSpPr>
        <p:spPr>
          <a:xfrm>
            <a:off x="600000" y="2240000"/>
            <a:ext cx="5296000" cy="26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1988 年 Baibich 在 Fe/Cr 多层膜中发现</a:t>
            </a:r>
          </a:p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铁磁层中 3d 电子被自旋极化</a:t>
            </a:r>
          </a:p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自旋 ∥ 磁化 → 散射弱、自由程长（低阻通道）</a:t>
            </a:r>
          </a:p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自旋 ⊥ 磁化 → 散射强（高阻通道）</a:t>
            </a:r>
          </a:p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磁化平行＝低阻，反平行＝高阻；外场驱动转向</a:t>
            </a:r>
          </a:p>
          <a:p>
            <a:pPr marL="0" indent="0"/>
            <a:r>
              <a:rPr lang="zh-CN" altLang="en-US" sz="1450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对比：AMR 仅 2~5 %，GMR 达百分之几十</a:t>
            </a:r>
          </a:p>
        </p:txBody>
      </p:sp>
      <p:sp>
        <p:nvSpPr>
          <p:cNvPr id="28" name="rc28"/>
          <p:cNvSpPr/>
          <p:nvPr/>
        </p:nvSpPr>
        <p:spPr>
          <a:xfrm>
            <a:off x="600000" y="4910000"/>
            <a:ext cx="5296000" cy="620000"/>
          </a:xfrm>
          <a:prstGeom prst="roundRect">
            <a:avLst>
              <a:gd name="adj" fmla="val 12000"/>
            </a:avLst>
          </a:prstGeom>
          <a:solidFill>
            <a:srgbClr val="FFF6F5"/>
          </a:solidFill>
          <a:ln w="12700">
            <a:solidFill>
              <a:srgbClr val="E8C4C1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29" name="tx29"/>
          <p:cNvSpPr txBox="1"/>
          <p:nvPr/>
        </p:nvSpPr>
        <p:spPr>
          <a:xfrm>
            <a:off x="800000" y="5080000"/>
            <a:ext cx="4896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500" b="1" dirty="0">
                <a:solidFill>
                  <a:srgbClr val="C8322B"/>
                </a:solidFill>
                <a:latin typeface="Consolas"/>
                <a:ea typeface="Consolas"/>
                <a:cs typeface="Consolas"/>
              </a:rPr>
              <a:t>ΔR/R₀ = [R(B) − R(0)] / R(0) × 100 %</a:t>
            </a:r>
          </a:p>
        </p:txBody>
      </p:sp>
      <p:sp>
        <p:nvSpPr>
          <p:cNvPr id="30" name="tx30"/>
          <p:cNvSpPr txBox="1"/>
          <p:nvPr/>
        </p:nvSpPr>
        <p:spPr>
          <a:xfrm>
            <a:off x="6296000" y="1740000"/>
            <a:ext cx="5296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7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三种用法与本次对应任务</a:t>
            </a:r>
          </a:p>
        </p:txBody>
      </p:sp>
      <p:sp>
        <p:nvSpPr>
          <p:cNvPr id="31" name="rc31"/>
          <p:cNvSpPr/>
          <p:nvPr/>
        </p:nvSpPr>
        <p:spPr>
          <a:xfrm>
            <a:off x="6296000" y="2240000"/>
            <a:ext cx="5296000" cy="7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32" name="rc32"/>
          <p:cNvSpPr/>
          <p:nvPr/>
        </p:nvSpPr>
        <p:spPr>
          <a:xfrm>
            <a:off x="6296000" y="2240000"/>
            <a:ext cx="70000" cy="7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3" name="tx33"/>
          <p:cNvSpPr txBox="1"/>
          <p:nvPr/>
        </p:nvSpPr>
        <p:spPr>
          <a:xfrm>
            <a:off x="6496000" y="2330000"/>
            <a:ext cx="4996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梯度（差分）模式</a:t>
            </a:r>
          </a:p>
        </p:txBody>
      </p:sp>
      <p:sp>
        <p:nvSpPr>
          <p:cNvPr id="34" name="tx34"/>
          <p:cNvSpPr txBox="1"/>
          <p:nvPr/>
        </p:nvSpPr>
        <p:spPr>
          <a:xfrm>
            <a:off x="6496000" y="2630000"/>
            <a:ext cx="4996000" cy="2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两元件电阻反向变化，抑制均匀杂散场   →   任务② 齿轮角位移</a:t>
            </a:r>
          </a:p>
        </p:txBody>
      </p:sp>
      <p:sp>
        <p:nvSpPr>
          <p:cNvPr id="35" name="rc35"/>
          <p:cNvSpPr/>
          <p:nvPr/>
        </p:nvSpPr>
        <p:spPr>
          <a:xfrm>
            <a:off x="6296000" y="3040000"/>
            <a:ext cx="5296000" cy="7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36" name="rc36"/>
          <p:cNvSpPr/>
          <p:nvPr/>
        </p:nvSpPr>
        <p:spPr>
          <a:xfrm>
            <a:off x="6296000" y="3040000"/>
            <a:ext cx="70000" cy="700000"/>
          </a:xfrm>
          <a:prstGeom prst="rect">
            <a:avLst/>
          </a:prstGeom>
          <a:solidFill>
            <a:srgbClr val="7B4EA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7" name="tx37"/>
          <p:cNvSpPr txBox="1"/>
          <p:nvPr/>
        </p:nvSpPr>
        <p:spPr>
          <a:xfrm>
            <a:off x="6496000" y="3130000"/>
            <a:ext cx="4996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7B4EA0"/>
                </a:solidFill>
                <a:latin typeface="Microsoft YaHei"/>
                <a:ea typeface="微软雅黑"/>
                <a:cs typeface="微软雅黑"/>
              </a:rPr>
              <a:t>开关模式</a:t>
            </a:r>
          </a:p>
        </p:txBody>
      </p:sp>
      <p:sp>
        <p:nvSpPr>
          <p:cNvPr id="38" name="tx38"/>
          <p:cNvSpPr txBox="1"/>
          <p:nvPr/>
        </p:nvSpPr>
        <p:spPr>
          <a:xfrm>
            <a:off x="6496000" y="3430000"/>
            <a:ext cx="4996000" cy="2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内置迟滞，输出仅高/低电平，抗抖动   →   拓展② 磁电转换特性</a:t>
            </a:r>
          </a:p>
        </p:txBody>
      </p:sp>
      <p:sp>
        <p:nvSpPr>
          <p:cNvPr id="39" name="rc39"/>
          <p:cNvSpPr/>
          <p:nvPr/>
        </p:nvSpPr>
        <p:spPr>
          <a:xfrm>
            <a:off x="6296000" y="3840000"/>
            <a:ext cx="5296000" cy="7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40" name="rc40"/>
          <p:cNvSpPr/>
          <p:nvPr/>
        </p:nvSpPr>
        <p:spPr>
          <a:xfrm>
            <a:off x="6296000" y="3840000"/>
            <a:ext cx="70000" cy="700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1" name="tx41"/>
          <p:cNvSpPr txBox="1"/>
          <p:nvPr/>
        </p:nvSpPr>
        <p:spPr>
          <a:xfrm>
            <a:off x="6496000" y="3930000"/>
            <a:ext cx="4996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磁记录与读出</a:t>
            </a:r>
          </a:p>
        </p:txBody>
      </p:sp>
      <p:sp>
        <p:nvSpPr>
          <p:cNvPr id="42" name="tx42"/>
          <p:cNvSpPr txBox="1"/>
          <p:nvPr/>
        </p:nvSpPr>
        <p:spPr>
          <a:xfrm>
            <a:off x="6496000" y="4230000"/>
            <a:ext cx="4996000" cy="2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读头感应磁卡局部杂散场 → 电平   →   任务③ 8 位写入读出</a:t>
            </a:r>
          </a:p>
        </p:txBody>
      </p:sp>
      <p:sp>
        <p:nvSpPr>
          <p:cNvPr id="43" name="rc43"/>
          <p:cNvSpPr/>
          <p:nvPr/>
        </p:nvSpPr>
        <p:spPr>
          <a:xfrm>
            <a:off x="6296000" y="4640000"/>
            <a:ext cx="5296000" cy="7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44" name="rc44"/>
          <p:cNvSpPr/>
          <p:nvPr/>
        </p:nvSpPr>
        <p:spPr>
          <a:xfrm>
            <a:off x="6296000" y="4640000"/>
            <a:ext cx="70000" cy="70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5" name="tx45"/>
          <p:cNvSpPr txBox="1"/>
          <p:nvPr/>
        </p:nvSpPr>
        <p:spPr>
          <a:xfrm>
            <a:off x="6496000" y="4730000"/>
            <a:ext cx="4996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D97706"/>
                </a:solidFill>
                <a:latin typeface="Microsoft YaHei"/>
                <a:ea typeface="微软雅黑"/>
                <a:cs typeface="微软雅黑"/>
              </a:rPr>
              <a:t>模拟线性输出</a:t>
            </a:r>
          </a:p>
        </p:txBody>
      </p:sp>
      <p:sp>
        <p:nvSpPr>
          <p:cNvPr id="46" name="tx46"/>
          <p:cNvSpPr txBox="1"/>
          <p:nvPr/>
        </p:nvSpPr>
        <p:spPr>
          <a:xfrm>
            <a:off x="6496000" y="5030000"/>
            <a:ext cx="4996000" cy="2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偏置磁场决定灵敏度与线性度   →   拓展① 测量电流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c47"/>
          <p:cNvSpPr/>
          <p:nvPr/>
        </p:nvSpPr>
        <p:spPr>
          <a:xfrm>
            <a:off x="600000" y="330000"/>
            <a:ext cx="90000" cy="5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8" name="tx48"/>
          <p:cNvSpPr txBox="1"/>
          <p:nvPr/>
        </p:nvSpPr>
        <p:spPr>
          <a:xfrm>
            <a:off x="800000" y="330000"/>
            <a:ext cx="95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5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任务① GMR 磁阻特性：13.93 % 饱和，31 mA 半饱和</a:t>
            </a:r>
          </a:p>
        </p:txBody>
      </p:sp>
      <p:sp>
        <p:nvSpPr>
          <p:cNvPr id="49" name="tx49"/>
          <p:cNvSpPr txBox="1"/>
          <p:nvPr/>
        </p:nvSpPr>
        <p:spPr>
          <a:xfrm>
            <a:off x="10292000" y="360000"/>
            <a:ext cx="1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3 / 7</a:t>
            </a:r>
          </a:p>
        </p:txBody>
      </p:sp>
      <p:sp>
        <p:nvSpPr>
          <p:cNvPr id="50" name="rc50"/>
          <p:cNvSpPr/>
          <p:nvPr/>
        </p:nvSpPr>
        <p:spPr>
          <a:xfrm>
            <a:off x="600000" y="900000"/>
            <a:ext cx="10992000" cy="56000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1" name="tx51"/>
          <p:cNvSpPr txBox="1"/>
          <p:nvPr/>
        </p:nvSpPr>
        <p:spPr>
          <a:xfrm>
            <a:off x="860000" y="1030000"/>
            <a:ext cx="10472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一句话结论  </a:t>
            </a:r>
            <a:r>
              <a:rPr lang="zh-CN" altLang="en-US" sz="1500" b="1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曲线低场陡峭、70 mA 后斜率降约 35 倍进入饱和——工作点必须选在陡峭区。</a:t>
            </a:r>
          </a:p>
        </p:txBody>
      </p:sp>
      <p:pic>
        <p:nvPicPr>
          <p:cNvPr id="52" name="pg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710000"/>
            <a:ext cx="6500000" cy="4207895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53" name="rc53"/>
          <p:cNvSpPr/>
          <p:nvPr/>
        </p:nvSpPr>
        <p:spPr>
          <a:xfrm>
            <a:off x="7350000" y="17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54" name="tx54"/>
          <p:cNvSpPr txBox="1"/>
          <p:nvPr/>
        </p:nvSpPr>
        <p:spPr>
          <a:xfrm>
            <a:off x="7500000" y="18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ΔR/R₀ = 13.93 %</a:t>
            </a:r>
          </a:p>
        </p:txBody>
      </p:sp>
      <p:sp>
        <p:nvSpPr>
          <p:cNvPr id="55" name="tx55"/>
          <p:cNvSpPr txBox="1"/>
          <p:nvPr/>
        </p:nvSpPr>
        <p:spPr>
          <a:xfrm>
            <a:off x="7500000" y="22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最大相对磁阻变化率（+100 mA）</a:t>
            </a:r>
          </a:p>
        </p:txBody>
      </p:sp>
      <p:sp>
        <p:nvSpPr>
          <p:cNvPr id="56" name="rc56"/>
          <p:cNvSpPr/>
          <p:nvPr/>
        </p:nvSpPr>
        <p:spPr>
          <a:xfrm>
            <a:off x="7350000" y="26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57" name="tx57"/>
          <p:cNvSpPr txBox="1"/>
          <p:nvPr/>
        </p:nvSpPr>
        <p:spPr>
          <a:xfrm>
            <a:off x="7500000" y="27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I½ ≈ 31.4 mA</a:t>
            </a:r>
          </a:p>
        </p:txBody>
      </p:sp>
      <p:sp>
        <p:nvSpPr>
          <p:cNvPr id="58" name="tx58"/>
          <p:cNvSpPr txBox="1"/>
          <p:nvPr/>
        </p:nvSpPr>
        <p:spPr>
          <a:xfrm>
            <a:off x="7500000" y="31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半饱和励磁电流</a:t>
            </a:r>
          </a:p>
        </p:txBody>
      </p:sp>
      <p:sp>
        <p:nvSpPr>
          <p:cNvPr id="59" name="rc59"/>
          <p:cNvSpPr/>
          <p:nvPr/>
        </p:nvSpPr>
        <p:spPr>
          <a:xfrm>
            <a:off x="7350000" y="35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60" name="tx60"/>
          <p:cNvSpPr txBox="1"/>
          <p:nvPr/>
        </p:nvSpPr>
        <p:spPr>
          <a:xfrm>
            <a:off x="7500000" y="36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1.44 % FS</a:t>
            </a:r>
          </a:p>
        </p:txBody>
      </p:sp>
      <p:sp>
        <p:nvSpPr>
          <p:cNvPr id="61" name="tx61"/>
          <p:cNvSpPr txBox="1"/>
          <p:nvPr/>
        </p:nvSpPr>
        <p:spPr>
          <a:xfrm>
            <a:off x="7500000" y="40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下降/上升段最大偏差（@50 mA）</a:t>
            </a:r>
          </a:p>
        </p:txBody>
      </p:sp>
      <p:sp>
        <p:nvSpPr>
          <p:cNvPr id="62" name="tx62"/>
          <p:cNvSpPr txBox="1"/>
          <p:nvPr/>
        </p:nvSpPr>
        <p:spPr>
          <a:xfrm>
            <a:off x="7350000" y="4510000"/>
            <a:ext cx="424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25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数据处理：</a:t>
            </a:r>
          </a:p>
          <a:p>
            <a:pPr marL="0" indent="0"/>
            <a:r>
              <a:rPr lang="zh-CN" altLang="en-US" sz="11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表中 B、U、R 三列未填，仅 E 列有值；该读数随 |I| 单调增大，与 R 同向，故按 ΔX/X₀ 归一化求 ΔR/R₀，横标用 I 而非 mT。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c63"/>
          <p:cNvSpPr/>
          <p:nvPr/>
        </p:nvSpPr>
        <p:spPr>
          <a:xfrm>
            <a:off x="600000" y="330000"/>
            <a:ext cx="90000" cy="5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4" name="tx64"/>
          <p:cNvSpPr txBox="1"/>
          <p:nvPr/>
        </p:nvSpPr>
        <p:spPr>
          <a:xfrm>
            <a:off x="800000" y="330000"/>
            <a:ext cx="95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5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任务② 齿轮角位移：周期 24° ⇒ 15 齿</a:t>
            </a:r>
          </a:p>
        </p:txBody>
      </p:sp>
      <p:sp>
        <p:nvSpPr>
          <p:cNvPr id="65" name="tx65"/>
          <p:cNvSpPr txBox="1"/>
          <p:nvPr/>
        </p:nvSpPr>
        <p:spPr>
          <a:xfrm>
            <a:off x="10292000" y="360000"/>
            <a:ext cx="1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4 / 7</a:t>
            </a:r>
          </a:p>
        </p:txBody>
      </p:sp>
      <p:sp>
        <p:nvSpPr>
          <p:cNvPr id="66" name="rc66"/>
          <p:cNvSpPr/>
          <p:nvPr/>
        </p:nvSpPr>
        <p:spPr>
          <a:xfrm>
            <a:off x="600000" y="900000"/>
            <a:ext cx="10992000" cy="56000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7" name="tx67"/>
          <p:cNvSpPr txBox="1"/>
          <p:nvPr/>
        </p:nvSpPr>
        <p:spPr>
          <a:xfrm>
            <a:off x="860000" y="1030000"/>
            <a:ext cx="10472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一句话结论  </a:t>
            </a:r>
            <a:r>
              <a:rPr lang="zh-CN" altLang="en-US" sz="1500" b="1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周期由四个极值位置定出，不依赖拟合；剔掉 2 个坏点后 R² = 0.977。</a:t>
            </a:r>
          </a:p>
        </p:txBody>
      </p:sp>
      <p:pic>
        <p:nvPicPr>
          <p:cNvPr id="68" name="pg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710000"/>
            <a:ext cx="6500000" cy="4207895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69" name="rc69"/>
          <p:cNvSpPr/>
          <p:nvPr/>
        </p:nvSpPr>
        <p:spPr>
          <a:xfrm>
            <a:off x="7350000" y="17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70" name="tx70"/>
          <p:cNvSpPr txBox="1"/>
          <p:nvPr/>
        </p:nvSpPr>
        <p:spPr>
          <a:xfrm>
            <a:off x="7500000" y="18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T = 24° → N = 15</a:t>
            </a:r>
          </a:p>
        </p:txBody>
      </p:sp>
      <p:sp>
        <p:nvSpPr>
          <p:cNvPr id="71" name="tx71"/>
          <p:cNvSpPr txBox="1"/>
          <p:nvPr/>
        </p:nvSpPr>
        <p:spPr>
          <a:xfrm>
            <a:off x="7500000" y="22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极值 6/18/30/42°，间隔恒 12°</a:t>
            </a:r>
          </a:p>
        </p:txBody>
      </p:sp>
      <p:sp>
        <p:nvSpPr>
          <p:cNvPr id="72" name="rc72"/>
          <p:cNvSpPr/>
          <p:nvPr/>
        </p:nvSpPr>
        <p:spPr>
          <a:xfrm>
            <a:off x="7350000" y="26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73" name="tx73"/>
          <p:cNvSpPr txBox="1"/>
          <p:nvPr/>
        </p:nvSpPr>
        <p:spPr>
          <a:xfrm>
            <a:off x="7500000" y="27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15.22 mV/°</a:t>
            </a:r>
          </a:p>
        </p:txBody>
      </p:sp>
      <p:sp>
        <p:nvSpPr>
          <p:cNvPr id="74" name="tx74"/>
          <p:cNvSpPr txBox="1"/>
          <p:nvPr/>
        </p:nvSpPr>
        <p:spPr>
          <a:xfrm>
            <a:off x="7500000" y="31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过零灵敏度，线性区 ±2.58°</a:t>
            </a:r>
          </a:p>
        </p:txBody>
      </p:sp>
      <p:sp>
        <p:nvSpPr>
          <p:cNvPr id="75" name="rc75"/>
          <p:cNvSpPr/>
          <p:nvPr/>
        </p:nvSpPr>
        <p:spPr>
          <a:xfrm>
            <a:off x="7350000" y="35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76" name="tx76"/>
          <p:cNvSpPr txBox="1"/>
          <p:nvPr/>
        </p:nvSpPr>
        <p:spPr>
          <a:xfrm>
            <a:off x="7500000" y="36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D97706"/>
                </a:solidFill>
                <a:latin typeface="Microsoft YaHei"/>
                <a:ea typeface="微软雅黑"/>
                <a:cs typeface="微软雅黑"/>
              </a:rPr>
              <a:t>0.40°</a:t>
            </a:r>
          </a:p>
        </p:txBody>
      </p:sp>
      <p:sp>
        <p:nvSpPr>
          <p:cNvPr id="77" name="tx77"/>
          <p:cNvSpPr txBox="1"/>
          <p:nvPr/>
        </p:nvSpPr>
        <p:spPr>
          <a:xfrm>
            <a:off x="7500000" y="40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实际角分辨率（受残差限制）</a:t>
            </a:r>
          </a:p>
        </p:txBody>
      </p:sp>
      <p:sp>
        <p:nvSpPr>
          <p:cNvPr id="78" name="tx78"/>
          <p:cNvSpPr txBox="1"/>
          <p:nvPr/>
        </p:nvSpPr>
        <p:spPr>
          <a:xfrm>
            <a:off x="7350000" y="4510000"/>
            <a:ext cx="424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25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两个坏点：</a:t>
            </a:r>
          </a:p>
          <a:p>
            <a:pPr marL="0" indent="0"/>
            <a:r>
              <a:rPr lang="zh-CN" altLang="en-US" sz="11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θ = 27°、45° 实测均≈0，模型预测 +39.1 / −43.1 mV；实测值恰落在模型过零差 3° 处 → 判为齿数错一格，建议复测。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c79"/>
          <p:cNvSpPr/>
          <p:nvPr/>
        </p:nvSpPr>
        <p:spPr>
          <a:xfrm>
            <a:off x="600000" y="330000"/>
            <a:ext cx="90000" cy="5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0" name="tx80"/>
          <p:cNvSpPr txBox="1"/>
          <p:nvPr/>
        </p:nvSpPr>
        <p:spPr>
          <a:xfrm>
            <a:off x="800000" y="330000"/>
            <a:ext cx="95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5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任务③ 磁记录与读出：8 位全对</a:t>
            </a:r>
          </a:p>
        </p:txBody>
      </p:sp>
      <p:sp>
        <p:nvSpPr>
          <p:cNvPr id="81" name="tx81"/>
          <p:cNvSpPr txBox="1"/>
          <p:nvPr/>
        </p:nvSpPr>
        <p:spPr>
          <a:xfrm>
            <a:off x="10292000" y="360000"/>
            <a:ext cx="1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5 / 7</a:t>
            </a:r>
          </a:p>
        </p:txBody>
      </p:sp>
      <p:sp>
        <p:nvSpPr>
          <p:cNvPr id="82" name="rc82"/>
          <p:cNvSpPr/>
          <p:nvPr/>
        </p:nvSpPr>
        <p:spPr>
          <a:xfrm>
            <a:off x="600000" y="900000"/>
            <a:ext cx="10992000" cy="56000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3" name="tx83"/>
          <p:cNvSpPr txBox="1"/>
          <p:nvPr/>
        </p:nvSpPr>
        <p:spPr>
          <a:xfrm>
            <a:off x="860000" y="1030000"/>
            <a:ext cx="10472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一句话结论  </a:t>
            </a:r>
            <a:r>
              <a:rPr lang="zh-CN" altLang="en-US" sz="1500" b="1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写入 00110011（= 0x33 = 51），译码结果与写入逐位一致，误码 0/8。</a:t>
            </a:r>
          </a:p>
        </p:txBody>
      </p:sp>
      <p:pic>
        <p:nvPicPr>
          <p:cNvPr id="84" name="pg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710000"/>
            <a:ext cx="6500000" cy="4207895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85" name="rc85"/>
          <p:cNvSpPr/>
          <p:nvPr/>
        </p:nvSpPr>
        <p:spPr>
          <a:xfrm>
            <a:off x="7350000" y="17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86" name="tx86"/>
          <p:cNvSpPr txBox="1"/>
          <p:nvPr/>
        </p:nvSpPr>
        <p:spPr>
          <a:xfrm>
            <a:off x="7500000" y="18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V_th = 0.965 V</a:t>
            </a:r>
          </a:p>
        </p:txBody>
      </p:sp>
      <p:sp>
        <p:nvSpPr>
          <p:cNvPr id="87" name="tx87"/>
          <p:cNvSpPr txBox="1"/>
          <p:nvPr/>
        </p:nvSpPr>
        <p:spPr>
          <a:xfrm>
            <a:off x="7500000" y="22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判决阈值（高低组中点）</a:t>
            </a:r>
          </a:p>
        </p:txBody>
      </p:sp>
      <p:sp>
        <p:nvSpPr>
          <p:cNvPr id="88" name="rc88"/>
          <p:cNvSpPr/>
          <p:nvPr/>
        </p:nvSpPr>
        <p:spPr>
          <a:xfrm>
            <a:off x="7350000" y="26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89" name="tx89"/>
          <p:cNvSpPr txBox="1"/>
          <p:nvPr/>
        </p:nvSpPr>
        <p:spPr>
          <a:xfrm>
            <a:off x="7500000" y="27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±0.96 V</a:t>
            </a:r>
          </a:p>
        </p:txBody>
      </p:sp>
      <p:sp>
        <p:nvSpPr>
          <p:cNvPr id="90" name="tx90"/>
          <p:cNvSpPr txBox="1"/>
          <p:nvPr/>
        </p:nvSpPr>
        <p:spPr>
          <a:xfrm>
            <a:off x="7500000" y="31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两侧噪声容限，各约 50 % 电平差</a:t>
            </a:r>
          </a:p>
        </p:txBody>
      </p:sp>
      <p:sp>
        <p:nvSpPr>
          <p:cNvPr id="91" name="rc91"/>
          <p:cNvSpPr/>
          <p:nvPr/>
        </p:nvSpPr>
        <p:spPr>
          <a:xfrm>
            <a:off x="7350000" y="35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92" name="tx92"/>
          <p:cNvSpPr txBox="1"/>
          <p:nvPr/>
        </p:nvSpPr>
        <p:spPr>
          <a:xfrm>
            <a:off x="7500000" y="36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7B4EA0"/>
                </a:solidFill>
                <a:latin typeface="Microsoft YaHei"/>
                <a:ea typeface="微软雅黑"/>
                <a:cs typeface="微软雅黑"/>
              </a:rPr>
              <a:t>1.925 V</a:t>
            </a:r>
          </a:p>
        </p:txBody>
      </p:sp>
      <p:sp>
        <p:nvSpPr>
          <p:cNvPr id="93" name="tx93"/>
          <p:cNvSpPr txBox="1"/>
          <p:nvPr/>
        </p:nvSpPr>
        <p:spPr>
          <a:xfrm>
            <a:off x="7500000" y="40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高 1.928 V / 低 0.003 V 电平差</a:t>
            </a:r>
          </a:p>
        </p:txBody>
      </p:sp>
      <p:sp>
        <p:nvSpPr>
          <p:cNvPr id="94" name="tx94"/>
          <p:cNvSpPr txBox="1"/>
          <p:nvPr/>
        </p:nvSpPr>
        <p:spPr>
          <a:xfrm>
            <a:off x="7350000" y="4510000"/>
            <a:ext cx="424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25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两点保留意见：</a:t>
            </a:r>
          </a:p>
          <a:p>
            <a:pPr marL="0" indent="0"/>
            <a:r>
              <a:rPr lang="zh-CN" altLang="en-US" sz="11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高电平 1.928 V 已接近输出级上限，可能饱和钳位；0/8 误码按三法则只能给 p₉₅ ≈ 37.5 % 上限，样本太少。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MR">
  <a:themeElements>
    <a:clrScheme name="GMR">
      <a:dk1>
        <a:srgbClr val="262626"/>
      </a:dk1>
      <a:lt1>
        <a:srgbClr val="FFFFFF"/>
      </a:lt1>
      <a:dk2>
        <a:srgbClr val="1F4E79"/>
      </a:dk2>
      <a:lt2>
        <a:srgbClr val="F2F5F8"/>
      </a:lt2>
      <a:accent1>
        <a:srgbClr val="1F6FB2"/>
      </a:accent1>
      <a:accent2>
        <a:srgbClr val="C8322B"/>
      </a:accent2>
      <a:accent3>
        <a:srgbClr val="2E8B57"/>
      </a:accent3>
      <a:accent4>
        <a:srgbClr val="7B4EA0"/>
      </a:accent4>
      <a:accent5>
        <a:srgbClr val="D97706"/>
      </a:accent5>
      <a:accent6>
        <a:srgbClr val="666666"/>
      </a:accent6>
      <a:hlink>
        <a:srgbClr val="0563C1"/>
      </a:hlink>
      <a:folHlink>
        <a:srgbClr val="954F72"/>
      </a:folHlink>
    </a:clrScheme>
    <a:fontScheme name="GMR">
      <a:majorFont>
        <a:latin typeface="Microsoft YaHei"/>
        <a:ea typeface="微软雅黑"/>
        <a:cs typeface=""/>
      </a:majorFont>
      <a:minorFont>
        <a:latin typeface="Microsoft YaHei"/>
        <a:ea typeface="微软雅黑"/>
        <a:cs typeface=""/>
      </a:minorFont>
    </a:fontScheme>
    <a:fmtScheme name="GMR">
      <a:fillStyleLst>
        <a:solidFill>
          <a:schemeClr val="phClr"/>
        </a:solidFill>
        <a:solidFill>
          <a:schemeClr val="phClr">
            <a:tint val="75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Qoder</Application>
  <Slides>5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巨磁阻效应及应用 答辩汇报</dc:title>
  <dc:subject>2 分钟汇报</dc:subject>
  <dc:language>zh-CN</dc:language>
  <dcterms:created xsi:type="dcterms:W3CDTF">2026-10-23T00:00:00Z</dcterms:created>
</cp:coreProperties>
</file>