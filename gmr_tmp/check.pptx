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Relationship Id="rId10" Type="http://schemas.openxmlformats.org/officeDocument/2006/relationships/presProps" Target="presProps.xml"/><Relationship Id="rId11" Type="http://schemas.openxmlformats.org/officeDocument/2006/relationships/notesMaster" Target="notesMasters/notesMaster1.xml"/></Relationships>
</file>

<file path=ppt/notesMasters/_rels/notes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
<Relationship Id="rId1" Type="http://schemas.openxmlformats.org/officeDocument/2006/relationships/slide" Target="../slides/slide1.xml"/>
<Relationship Id="rId2" Type="http://schemas.openxmlformats.org/officeDocument/2006/relationships/notesMaster" Target="../notesMasters/notesMaster1.xml"/>
</Relationships>
</file>

<file path=ppt/notesSlides/_rels/notesSlide2.xml.rels><?xml version="1.0" encoding="UTF-8" standalone="yes"?>
<Relationships xmlns="http://schemas.openxmlformats.org/package/2006/relationships">
<Relationship Id="rId1" Type="http://schemas.openxmlformats.org/officeDocument/2006/relationships/slide" Target="../slides/slide2.xml"/>
<Relationship Id="rId2" Type="http://schemas.openxmlformats.org/officeDocument/2006/relationships/notesMaster" Target="../notesMasters/notesMaster1.xml"/>
</Relationships>
</file>

<file path=ppt/notesSlides/_rels/notesSlide3.xml.rels><?xml version="1.0" encoding="UTF-8" standalone="yes"?>
<Relationships xmlns="http://schemas.openxmlformats.org/package/2006/relationships">
<Relationship Id="rId1" Type="http://schemas.openxmlformats.org/officeDocument/2006/relationships/slide" Target="../slides/slide3.xml"/>
<Relationship Id="rId2" Type="http://schemas.openxmlformats.org/officeDocument/2006/relationships/notesMaster" Target="../notesMasters/notesMaster1.xml"/>
</Relationships>
</file>

<file path=ppt/notesSlides/_rels/notesSlide4.xml.rels><?xml version="1.0" encoding="UTF-8" standalone="yes"?>
<Relationships xmlns="http://schemas.openxmlformats.org/package/2006/relationships">
<Relationship Id="rId1" Type="http://schemas.openxmlformats.org/officeDocument/2006/relationships/slide" Target="../slides/slide4.xml"/>
<Relationship Id="rId2" Type="http://schemas.openxmlformats.org/officeDocument/2006/relationships/notesMaster" Target="../notesMasters/notesMaster1.xml"/>
</Relationships>
</file>

<file path=ppt/notesSlides/_rels/notesSlide5.xml.rels><?xml version="1.0" encoding="UTF-8" standalone="yes"?>
<Relationships xmlns="http://schemas.openxmlformats.org/package/2006/relationships">
<Relationship Id="rId1" Type="http://schemas.openxmlformats.org/officeDocument/2006/relationships/slide" Target="../slides/slide5.xml"/>
<Relationship Id="rId2" Type="http://schemas.openxmlformats.org/officeDocument/2006/relationships/notesMaster" Target="../notesMasters/notesMaster1.xml"/>
</Relationships>
</file>

<file path=ppt/notesSlides/_rels/notesSlide6.xml.rels><?xml version="1.0" encoding="UTF-8" standalone="yes"?>
<Relationships xmlns="http://schemas.openxmlformats.org/package/2006/relationships">
<Relationship Id="rId1" Type="http://schemas.openxmlformats.org/officeDocument/2006/relationships/slide" Target="../slides/slide6.xml"/>
<Relationship Id="rId2" Type="http://schemas.openxmlformats.org/officeDocument/2006/relationships/notesMaster" Target="../notesMasters/notesMaster1.xml"/>
</Relationships>
</file>

<file path=ppt/notesSlides/_rels/notesSlide7.xml.rels><?xml version="1.0" encoding="UTF-8" standalone="yes"?>
<Relationships xmlns="http://schemas.openxmlformats.org/package/2006/relationships">
<Relationship Id="rId1" Type="http://schemas.openxmlformats.org/officeDocument/2006/relationships/slide" Target="../slides/slide7.xml"/>
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/>
            <a:r>
              <a:rPr lang="zh-CN" altLang="en-US" sz="115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【数据】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完成 4 项测量：磁阻特性（±100 mA 四段扫描 43 点）、角位移（0~48° 共 17 点）、磁记录（8 区域）、拓展两项（测电流 ±300 mA 两行 7 点、开关四段 4 个阈值）。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【现象】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全部数值取自实验记录表已填写的单元格；表中 B、U、R 三列空白，未作推算。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【结论】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四项任务均取得可用数据，下面逐项报告。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/>
            <a:r>
              <a:rPr lang="zh-CN" altLang="en-US" sz="115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【数据】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理论预期：磁化由反平行转为平行时电阻下降，ΔR/R</a:t>
            </a:r>
            <a:r>
              <a:rPr lang="zh-CN" altLang="en-US" sz="11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可达百分之几十；坡莫合金 AMR 仅 2~5 %。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【现象】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由此应能观测到三件事：① 电阻随磁场单调上升后趋于饱和；② 梯度结构在齿轮上输出周期信号；③ 开关结构输出带回差的方波。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【结论】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本次三件事全部被数据证实（见后四页），且实测 ΔR/R</a:t>
            </a:r>
            <a:r>
              <a:rPr lang="zh-CN" altLang="en-US" sz="11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13.93 % 落在 GMR 量级、明显高于 AMR。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/>
            <a:r>
              <a:rPr lang="zh-CN" altLang="en-US" sz="115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【数据】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零磁场读数 X</a:t>
            </a:r>
            <a:r>
              <a:rPr lang="zh-CN" altLang="en-US" sz="11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1.594（下降段）/ 1.596（上升段）；+100 mA 处 1.816，−100 mA 处 1.813。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0→30 mA 平均变化率 3.50×10⁻³/mA，70→100 mA 仅 1.0×10⁻⁴/mA。同 |I| 处下降段与上升段最大偏差 0.023（在 50 mA）。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【现象】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① 响应量随 |I| 单调增大，低场陡、高场平；② 高场斜率比低场小约 35 倍；③ 磁滞偏差集中在曲线最陡的中场区（30~60 mA），在低场与饱和区都明显变小；④ 正负两侧最大值仅差 0.003。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【结论】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</a:t>
            </a:r>
            <a:r>
              <a:rPr lang="zh-CN" altLang="en-US" sz="11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13.93 %，半饱和 I½ = 31.4 mA，|I| &gt; 70 mA 进入饱和。偏差的分布特征说明它主要来自励磁电流—磁场标定的路径不重复被陡峭的 dX/dI 放大，而不是 GMR 材料本身的大磁滞；左右磁路对称性良好（0.13 %）。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/>
            <a:r>
              <a:rPr lang="zh-CN" altLang="en-US" sz="115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【数据】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θ = 0~48°、步长 3°、共 17 点。四个极值：6°→57.3、18°→−56.5、30°→57.2、42°→−55.4 mV。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固定 T = 24° 作基波最小二乘：17 点 R² = 0.858、最大残差 36.6 mV；剔除 2 点后 A = 58.12 mV、R² = 0.977、残差 rms 6.10 mV。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【现象】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① 相邻极值间隔恒为 12°，两次正峰与两次负峰重复性很好；② θ = 27° 读到 0、θ = 45° 读到 −1.1 mV，模型预测 +39.1 与 −43.1 mV，偏离约 0.7 倍幅值，而其余各点均不超过 11.5 mV。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【结论】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周期 T = 24°（由极值位置直接定出，不依赖拟合），齿数 N = 360/24 = 15；峰峰值 113.8 mV；过零灵敏度 15.22 mV/°，线性区 ±2.58°，实际角分辨率 0.40°。两个坏点的实测值都落在模型过零位置差约 3°（恰一个采样步长）处，故判为转齿时计数错位，不是传感器异常。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/>
            <a:r>
              <a:rPr lang="zh-CN" altLang="en-US" sz="115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【数据】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写入 00110011；读出 0.003 / 0.002 / 1.928 / 1.928 / 0.003 / 0.003 / 1.928 / 1.928 V。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低电平组最大 0.003 V，高电平组最小 1.928 V，电平差 1.925 V；取中点 0.965 V 作判决。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【现象】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两组电平之间没有任何重叠，两侧噪声容限各约 0.96 V，即电平差的一半；输出是干净的高/低二值量而非模拟量。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【结论】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译码结果 00110011（= 0x33 = 51）与写入逐位一致，误码 0/8，GMR 读出头可正确还原磁卡信息。同时观察到高电平 1.928 V 已接近输出级上限，"高电平一致"部分反映的是钳位而非磁阻线性响应；且 0/8 按三法则只能给出误码率 95 % 上限约 37.5 %，故"无误码"仅在该置信水平内成立。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/>
            <a:r>
              <a:rPr lang="zh-CN" altLang="en-US" sz="115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【数据】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测电流：±300 mA 两行各 7 点。低偏置拟合 U = 25.914 + 0.015464·I，R² = 0.99839；适当偏置 U = 129.357 + 0.018250·I，R² = 0.99765。开关：四个阈值 15.4 / 18.5 / 16.7 / 19.1 mA。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【现象】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① 灵敏度由 15.46 升到 18.25 µV/mA，最大残差由 0.186 升到 0.343 mV，非线性度由 2.00 % 升到 3.12 % FS；两组残差符号都是"负—正—负"的系统性弯曲，不是随机散布。② 开关动作点两侧（19.1 与 18.5 mA）接近，释放点两侧（15.4 与 16.7 mA）差得多；逐格记录区仅有的两个电平格（+10 mA→低、−20 mA→高）与四个阈值自洽。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【结论】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偏置磁场使灵敏度提高 18.0 %，代价是非线性度增加约 1.1 个百分点——两者是工作点移动的一体两面；残差的系统形状说明它来自 GMR 磁阻曲线本身的非线性，可用分段拟合或查表校正消除。开关构成带回差的施密特特性，平均回差 2.75 mA；但逐格步长 10 mA 决定阈值不确定度约 ±5 mA，大于两侧回差之差 1.90 mA，因此本次数据不支持"回差存在物理不对称"这一结论。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marL="0" indent="0"/>
            <a:r>
              <a:rPr lang="zh-CN" altLang="en-US" sz="115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【数据】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零点一致性：I = 0 处下降段 1.594、上升段 1.596，差 0.002（0.13 %）。扫描回线最大偏差 1.44 % FS。B、U、R 三列未填，仪器 B—I 标定曲线未记录。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【现象】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电流归零后读数未回到同一值，说明磁路存在剩磁，"零磁场"并非真正的 B = 0；磁滞偏差与不对称量都在 1~1.5 % 量级，远大于电表量化误差（约 0.03 %）。</a:t>
            </a:r>
          </a:p>
          <a:p>
            <a:pPr marL="0" indent="0">
              <a:spcBef>
                <a:spcPts val="600"/>
              </a:spcBef>
            </a:pPr>
            <a:r>
              <a:rPr lang="zh-CN" altLang="en-US" sz="11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【结论】  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四条结论：① 磁阻曲线呈饱和形，ΔR/R</a:t>
            </a:r>
            <a:r>
              <a:rPr lang="zh-CN" altLang="en-US" sz="11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13.93 %、I½ = 31.4 mA，灵敏区在低场陡峭段；② 梯度模式输出周期 24° 的唯一对应 15 齿，灵敏度 15.22 mV/°；③ 开关给"有无"、线性给"多少"，平均回差 2.75 mA 是这一取舍的量化体现；④ 偏置换来 18.0 % 灵敏度、损失约 1.1 个百分点线性度。数据边界：因缺 B—I 标定，13.93 % 是归一化相对量而非绝对电阻；受 10 mA 步长限制，回差的细微不对称不能下定量结论。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2.png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3.png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4.png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g5.png"/><Relationship Id="rId3" Type="http://schemas.openxmlformats.org/officeDocument/2006/relationships/image" Target="../media/fig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</a:t>
            </a:r>
            <a:r>
              <a:rPr lang="zh-CN" altLang="en-US" sz="13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7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7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7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21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x22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原理：自旋相关散射 → 电阻随磁化取向改变</a:t>
            </a:r>
          </a:p>
        </p:txBody>
      </p:sp>
      <p:sp>
        <p:nvSpPr>
          <p:cNvPr id="23" name="tx23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2 / 7</a:t>
            </a:r>
          </a:p>
        </p:txBody>
      </p:sp>
      <p:sp>
        <p:nvSpPr>
          <p:cNvPr id="24" name="rc24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x25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把“磁化相对取向”转成“电阻变化”，因此既能测弱磁场，也能测位置与电流。</a:t>
            </a:r>
          </a:p>
        </p:txBody>
      </p:sp>
      <p:sp>
        <p:nvSpPr>
          <p:cNvPr id="26" name="tx26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机理</a:t>
            </a:r>
          </a:p>
        </p:txBody>
      </p:sp>
      <p:sp>
        <p:nvSpPr>
          <p:cNvPr id="27" name="tx27"/>
          <p:cNvSpPr txBox="1"/>
          <p:nvPr/>
        </p:nvSpPr>
        <p:spPr>
          <a:xfrm>
            <a:off x="600000" y="2240000"/>
            <a:ext cx="5296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1988 年 Baibich 在 Fe/Cr 多层膜中发现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铁磁层中 3d 电子被自旋极化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∥ 磁化 → 散射弱、自由程长（低阻通道）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⊥ 磁化 → 散射强（高阻通道）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磁化平行＝低阻，反平行＝高阻；外场驱动转向</a:t>
            </a:r>
          </a:p>
          <a:p>
            <a:pPr marL="0" indent="0"/>
            <a:r>
              <a:rPr lang="zh-CN" altLang="en-US" sz="14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对比：AMR 仅 2~5 %，GMR 达百分之几十</a:t>
            </a:r>
          </a:p>
        </p:txBody>
      </p:sp>
      <p:sp>
        <p:nvSpPr>
          <p:cNvPr id="28" name="rc28"/>
          <p:cNvSpPr/>
          <p:nvPr/>
        </p:nvSpPr>
        <p:spPr>
          <a:xfrm>
            <a:off x="600000" y="49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tx29"/>
          <p:cNvSpPr txBox="1"/>
          <p:nvPr/>
        </p:nvSpPr>
        <p:spPr>
          <a:xfrm>
            <a:off x="800000" y="5080000"/>
            <a:ext cx="4896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ΔR/R</a:t>
            </a:r>
            <a:r>
              <a:rPr lang="zh-CN" altLang="en-US" sz="1500" b="1" baseline="-25000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0</a:t>
            </a:r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 = [R(B) − R(0)] / R(0) × 100 %</a:t>
            </a:r>
          </a:p>
        </p:txBody>
      </p:sp>
      <p:sp>
        <p:nvSpPr>
          <p:cNvPr id="30" name="tx30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应用方式与本次任务对应</a:t>
            </a:r>
          </a:p>
        </p:txBody>
      </p:sp>
      <p:sp>
        <p:nvSpPr>
          <p:cNvPr id="31" name="rc31"/>
          <p:cNvSpPr/>
          <p:nvPr/>
        </p:nvSpPr>
        <p:spPr>
          <a:xfrm>
            <a:off x="6296000" y="22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2" name="rc32"/>
          <p:cNvSpPr/>
          <p:nvPr/>
        </p:nvSpPr>
        <p:spPr>
          <a:xfrm>
            <a:off x="6296000" y="2240000"/>
            <a:ext cx="70000" cy="7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x33"/>
          <p:cNvSpPr txBox="1"/>
          <p:nvPr/>
        </p:nvSpPr>
        <p:spPr>
          <a:xfrm>
            <a:off x="6496000" y="23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梯度（差分）模式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6496000" y="26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两元件电阻反向变化，抑制均匀杂散场   →   任务② 齿轮角位移</a:t>
            </a:r>
          </a:p>
        </p:txBody>
      </p:sp>
      <p:sp>
        <p:nvSpPr>
          <p:cNvPr id="35" name="rc35"/>
          <p:cNvSpPr/>
          <p:nvPr/>
        </p:nvSpPr>
        <p:spPr>
          <a:xfrm>
            <a:off x="6296000" y="30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6" name="rc36"/>
          <p:cNvSpPr/>
          <p:nvPr/>
        </p:nvSpPr>
        <p:spPr>
          <a:xfrm>
            <a:off x="6296000" y="3040000"/>
            <a:ext cx="70000" cy="700000"/>
          </a:xfrm>
          <a:prstGeom prst="rect">
            <a:avLst/>
          </a:prstGeom>
          <a:solidFill>
            <a:srgbClr val="7B4EA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x37"/>
          <p:cNvSpPr txBox="1"/>
          <p:nvPr/>
        </p:nvSpPr>
        <p:spPr>
          <a:xfrm>
            <a:off x="6496000" y="31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开关模式</a:t>
            </a:r>
          </a:p>
        </p:txBody>
      </p:sp>
      <p:sp>
        <p:nvSpPr>
          <p:cNvPr id="38" name="tx38"/>
          <p:cNvSpPr txBox="1"/>
          <p:nvPr/>
        </p:nvSpPr>
        <p:spPr>
          <a:xfrm>
            <a:off x="6496000" y="34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内置迟滞，输出仅高/低电平，抗抖动   →   拓展② 磁电转换特性</a:t>
            </a:r>
          </a:p>
        </p:txBody>
      </p:sp>
      <p:sp>
        <p:nvSpPr>
          <p:cNvPr id="39" name="rc39"/>
          <p:cNvSpPr/>
          <p:nvPr/>
        </p:nvSpPr>
        <p:spPr>
          <a:xfrm>
            <a:off x="6296000" y="38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rc40"/>
          <p:cNvSpPr/>
          <p:nvPr/>
        </p:nvSpPr>
        <p:spPr>
          <a:xfrm>
            <a:off x="6296000" y="3840000"/>
            <a:ext cx="70000" cy="7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tx41"/>
          <p:cNvSpPr txBox="1"/>
          <p:nvPr/>
        </p:nvSpPr>
        <p:spPr>
          <a:xfrm>
            <a:off x="6496000" y="39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磁记录与读出</a:t>
            </a:r>
          </a:p>
        </p:txBody>
      </p:sp>
      <p:sp>
        <p:nvSpPr>
          <p:cNvPr id="42" name="tx42"/>
          <p:cNvSpPr txBox="1"/>
          <p:nvPr/>
        </p:nvSpPr>
        <p:spPr>
          <a:xfrm>
            <a:off x="6496000" y="42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读头感应磁卡局部杂散场 → 电平   →   任务③ 8 位写入读出</a:t>
            </a:r>
          </a:p>
        </p:txBody>
      </p:sp>
      <p:sp>
        <p:nvSpPr>
          <p:cNvPr id="43" name="rc43"/>
          <p:cNvSpPr/>
          <p:nvPr/>
        </p:nvSpPr>
        <p:spPr>
          <a:xfrm>
            <a:off x="6296000" y="46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4" name="rc44"/>
          <p:cNvSpPr/>
          <p:nvPr/>
        </p:nvSpPr>
        <p:spPr>
          <a:xfrm>
            <a:off x="6296000" y="4640000"/>
            <a:ext cx="70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tx45"/>
          <p:cNvSpPr txBox="1"/>
          <p:nvPr/>
        </p:nvSpPr>
        <p:spPr>
          <a:xfrm>
            <a:off x="6496000" y="47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模拟线性输出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6496000" y="50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偏置磁场决定灵敏度与线性度   →   拓展① 测量电流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c47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tx48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任务① GMR 磁阻特性：13.93 % 饱和，31 mA 半饱和</a:t>
            </a:r>
          </a:p>
        </p:txBody>
      </p:sp>
      <p:sp>
        <p:nvSpPr>
          <p:cNvPr id="49" name="tx49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3 / 7</a:t>
            </a:r>
          </a:p>
        </p:txBody>
      </p:sp>
      <p:sp>
        <p:nvSpPr>
          <p:cNvPr id="50" name="rc50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1" name="tx51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曲线低场陡峭、70 mA 后斜率降约 35 倍进入饱和，灵敏区集中在低场陡峭段。</a:t>
            </a:r>
          </a:p>
        </p:txBody>
      </p:sp>
      <p:pic>
        <p:nvPicPr>
          <p:cNvPr id="52" name="pg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53" name="rc53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4" name="tx54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ΔR/R</a:t>
            </a:r>
            <a:r>
              <a:rPr lang="zh-CN" altLang="en-US" sz="2100" b="1" baseline="-2500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 = 13.93 %</a:t>
            </a:r>
          </a:p>
        </p:txBody>
      </p:sp>
      <p:sp>
        <p:nvSpPr>
          <p:cNvPr id="55" name="tx55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最大相对磁阻变化率（+100 mA）</a:t>
            </a:r>
          </a:p>
        </p:txBody>
      </p:sp>
      <p:sp>
        <p:nvSpPr>
          <p:cNvPr id="56" name="rc56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57" name="tx57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I½ ≈ 31.4 mA</a:t>
            </a:r>
          </a:p>
        </p:txBody>
      </p:sp>
      <p:sp>
        <p:nvSpPr>
          <p:cNvPr id="58" name="tx58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半饱和励磁电流</a:t>
            </a:r>
          </a:p>
        </p:txBody>
      </p:sp>
      <p:sp>
        <p:nvSpPr>
          <p:cNvPr id="59" name="rc59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60" name="tx60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1.44 % FS</a:t>
            </a:r>
          </a:p>
        </p:txBody>
      </p:sp>
      <p:sp>
        <p:nvSpPr>
          <p:cNvPr id="61" name="tx61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下降/上升段最大偏差（@50 mA）</a:t>
            </a:r>
          </a:p>
        </p:txBody>
      </p:sp>
      <p:sp>
        <p:nvSpPr>
          <p:cNvPr id="62" name="tx62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数据处理：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表中 B、U、R 三列未填，仅 E 列有值；该读数随 |I| 单调增大，与 R 同向，故按 ΔX/X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归一化求 ΔR/R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，横标用 I 而非 mT。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c63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4" name="tx64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任务② 齿轮角位移：周期 24° ⇒ 15 齿</a:t>
            </a:r>
          </a:p>
        </p:txBody>
      </p:sp>
      <p:sp>
        <p:nvSpPr>
          <p:cNvPr id="65" name="tx65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4 / 7</a:t>
            </a:r>
          </a:p>
        </p:txBody>
      </p:sp>
      <p:sp>
        <p:nvSpPr>
          <p:cNvPr id="66" name="rc66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67" name="tx67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周期由四个极值位置定出，不依赖拟合；剔掉 2 个坏点后 R² = 0.977。</a:t>
            </a:r>
          </a:p>
        </p:txBody>
      </p:sp>
      <p:pic>
        <p:nvPicPr>
          <p:cNvPr id="68" name="pg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69" name="rc69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0" name="tx70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T = 24° → N = 15</a:t>
            </a:r>
          </a:p>
        </p:txBody>
      </p:sp>
      <p:sp>
        <p:nvSpPr>
          <p:cNvPr id="71" name="tx71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极值 6/18/30/42°，间隔恒 12°</a:t>
            </a:r>
          </a:p>
        </p:txBody>
      </p:sp>
      <p:sp>
        <p:nvSpPr>
          <p:cNvPr id="72" name="rc72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3" name="tx73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15.22 mV/°</a:t>
            </a:r>
          </a:p>
        </p:txBody>
      </p:sp>
      <p:sp>
        <p:nvSpPr>
          <p:cNvPr id="74" name="tx74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过零灵敏度，线性区 ±2.58°</a:t>
            </a:r>
          </a:p>
        </p:txBody>
      </p:sp>
      <p:sp>
        <p:nvSpPr>
          <p:cNvPr id="75" name="rc75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76" name="tx76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0.40°</a:t>
            </a:r>
          </a:p>
        </p:txBody>
      </p:sp>
      <p:sp>
        <p:nvSpPr>
          <p:cNvPr id="77" name="tx77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实际角分辨率（受残差限制）</a:t>
            </a:r>
          </a:p>
        </p:txBody>
      </p:sp>
      <p:sp>
        <p:nvSpPr>
          <p:cNvPr id="78" name="tx78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两个坏点：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θ = 27°、45° 实测均≈0，模型预测 +39.1 / −43.1 mV；实测值恰落在模型过零差 3° 处 → 判为齿数计数错位，而非传感器异常。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c79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0" name="tx80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任务③ 磁记录与读出：8 位全对</a:t>
            </a:r>
          </a:p>
        </p:txBody>
      </p:sp>
      <p:sp>
        <p:nvSpPr>
          <p:cNvPr id="81" name="tx81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5 / 7</a:t>
            </a:r>
          </a:p>
        </p:txBody>
      </p:sp>
      <p:sp>
        <p:nvSpPr>
          <p:cNvPr id="82" name="rc82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83" name="tx83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写入 00110011（= 0x33 = 51），译码结果与写入逐位一致，误码 0/8。</a:t>
            </a:r>
          </a:p>
        </p:txBody>
      </p:sp>
      <p:pic>
        <p:nvPicPr>
          <p:cNvPr id="84" name="pg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6500000" cy="4207895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85" name="rc85"/>
          <p:cNvSpPr/>
          <p:nvPr/>
        </p:nvSpPr>
        <p:spPr>
          <a:xfrm>
            <a:off x="7350000" y="17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6" name="tx86"/>
          <p:cNvSpPr txBox="1"/>
          <p:nvPr/>
        </p:nvSpPr>
        <p:spPr>
          <a:xfrm>
            <a:off x="7500000" y="18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V_th = 0.965 V</a:t>
            </a:r>
          </a:p>
        </p:txBody>
      </p:sp>
      <p:sp>
        <p:nvSpPr>
          <p:cNvPr id="87" name="tx87"/>
          <p:cNvSpPr txBox="1"/>
          <p:nvPr/>
        </p:nvSpPr>
        <p:spPr>
          <a:xfrm>
            <a:off x="7500000" y="22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判决阈值（高低组中点）</a:t>
            </a:r>
          </a:p>
        </p:txBody>
      </p:sp>
      <p:sp>
        <p:nvSpPr>
          <p:cNvPr id="88" name="rc88"/>
          <p:cNvSpPr/>
          <p:nvPr/>
        </p:nvSpPr>
        <p:spPr>
          <a:xfrm>
            <a:off x="7350000" y="26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9" name="tx89"/>
          <p:cNvSpPr txBox="1"/>
          <p:nvPr/>
        </p:nvSpPr>
        <p:spPr>
          <a:xfrm>
            <a:off x="7500000" y="27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±0.96 V</a:t>
            </a:r>
          </a:p>
        </p:txBody>
      </p:sp>
      <p:sp>
        <p:nvSpPr>
          <p:cNvPr id="90" name="tx90"/>
          <p:cNvSpPr txBox="1"/>
          <p:nvPr/>
        </p:nvSpPr>
        <p:spPr>
          <a:xfrm>
            <a:off x="7500000" y="31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两侧噪声容限，各约 50 % 电平差</a:t>
            </a:r>
          </a:p>
        </p:txBody>
      </p:sp>
      <p:sp>
        <p:nvSpPr>
          <p:cNvPr id="91" name="rc91"/>
          <p:cNvSpPr/>
          <p:nvPr/>
        </p:nvSpPr>
        <p:spPr>
          <a:xfrm>
            <a:off x="7350000" y="3560000"/>
            <a:ext cx="4242000" cy="8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92" name="tx92"/>
          <p:cNvSpPr txBox="1"/>
          <p:nvPr/>
        </p:nvSpPr>
        <p:spPr>
          <a:xfrm>
            <a:off x="7500000" y="3670000"/>
            <a:ext cx="394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1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1.925 V</a:t>
            </a:r>
          </a:p>
        </p:txBody>
      </p:sp>
      <p:sp>
        <p:nvSpPr>
          <p:cNvPr id="93" name="tx93"/>
          <p:cNvSpPr txBox="1"/>
          <p:nvPr/>
        </p:nvSpPr>
        <p:spPr>
          <a:xfrm>
            <a:off x="7500000" y="4030000"/>
            <a:ext cx="3942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高 1.928 V / 低 0.003 V 电平差</a:t>
            </a:r>
          </a:p>
        </p:txBody>
      </p:sp>
      <p:sp>
        <p:nvSpPr>
          <p:cNvPr id="94" name="tx94"/>
          <p:cNvSpPr txBox="1"/>
          <p:nvPr/>
        </p:nvSpPr>
        <p:spPr>
          <a:xfrm>
            <a:off x="7350000" y="4510000"/>
            <a:ext cx="424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数据边界：</a:t>
            </a:r>
          </a:p>
          <a:p>
            <a:pPr marL="0" indent="0"/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高电平 1.928 V 已接近输出级上限，可能饱和钳位；0/8 误码按三法则只能给 p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9</a:t>
            </a:r>
            <a:r>
              <a:rPr lang="zh-CN" altLang="en-US" sz="11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5</a:t>
            </a:r>
            <a:r>
              <a:rPr lang="zh-CN" altLang="en-US" sz="11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≈ 37.5 % 上限，样本太少。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c95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6" name="tx96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拓展（三选二）：测电流 · 开关特性</a:t>
            </a:r>
          </a:p>
        </p:txBody>
      </p:sp>
      <p:sp>
        <p:nvSpPr>
          <p:cNvPr id="97" name="tx97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6 / 7</a:t>
            </a:r>
          </a:p>
        </p:txBody>
      </p:sp>
      <p:sp>
        <p:nvSpPr>
          <p:cNvPr id="98" name="rc98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99" name="tx99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偏置磁场用 18 % 的灵敏度换取约 1 个百分点的线性度；开关回差 2.75 mA 提供抗抖动死区。</a:t>
            </a:r>
          </a:p>
        </p:txBody>
      </p:sp>
      <p:pic>
        <p:nvPicPr>
          <p:cNvPr id="100" name="pg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pic>
        <p:nvPicPr>
          <p:cNvPr id="101" name="pg1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000" y="1710000"/>
            <a:ext cx="5300000" cy="3431053"/>
          </a:xfrm>
          <a:prstGeom prst="rect">
            <a:avLst/>
          </a:prstGeom>
          <a:ln w="9525">
            <a:solidFill>
              <a:srgbClr val="D0D7DE"/>
            </a:solidFill>
          </a:ln>
        </p:spPr>
      </p:pic>
      <p:sp>
        <p:nvSpPr>
          <p:cNvPr id="102" name="tx102"/>
          <p:cNvSpPr txBox="1"/>
          <p:nvPr/>
        </p:nvSpPr>
        <p:spPr>
          <a:xfrm>
            <a:off x="600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拓展① 模拟传感器测电流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S：15.46 → 18.25 µV/mA（+18.0 %）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非线性度：2.00 → 3.12 % FS，R² &gt; 0.997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注：适当偏置校准未到位，实测零点 129.36 mV（目标 150）</a:t>
            </a:r>
          </a:p>
        </p:txBody>
      </p:sp>
      <p:sp>
        <p:nvSpPr>
          <p:cNvPr id="103" name="tx103"/>
          <p:cNvSpPr txBox="1"/>
          <p:nvPr/>
        </p:nvSpPr>
        <p:spPr>
          <a:xfrm>
            <a:off x="6292000" y="5341053"/>
            <a:ext cx="53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拓展② 开关传感器磁电转换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动作 ±18.8 mA，释放 ±16.05 mA</a:t>
            </a:r>
          </a:p>
          <a:p>
            <a:pPr marL="0" indent="0"/>
            <a:r>
              <a:rPr lang="zh-CN" altLang="en-US" sz="12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回差：正 3.70 / 负 1.80 / 平均 2.75 mA</a:t>
            </a:r>
          </a:p>
          <a:p>
            <a:pPr marL="0" indent="0"/>
            <a:r>
              <a:rPr lang="zh-CN" altLang="en-US" sz="11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注：逐格步长 10 mA → 阈值不确定度 ±5 mA，两侧回差之差（1.90 mA）不作物理结论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c104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5" name="tx105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误差主线与结论</a:t>
            </a:r>
          </a:p>
        </p:txBody>
      </p:sp>
      <p:sp>
        <p:nvSpPr>
          <p:cNvPr id="106" name="tx106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7 / 7</a:t>
            </a:r>
          </a:p>
        </p:txBody>
      </p:sp>
      <p:sp>
        <p:nvSpPr>
          <p:cNvPr id="107" name="rc107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08" name="tx108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定性结论与参量测定都成立；涉及绝对磁场与回差细微不对称的量，本次数据不支持下定量结论。</a:t>
            </a:r>
          </a:p>
        </p:txBody>
      </p:sp>
      <p:sp>
        <p:nvSpPr>
          <p:cNvPr id="109" name="tx109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三条误差主线</a:t>
            </a:r>
          </a:p>
        </p:txBody>
      </p:sp>
      <p:sp>
        <p:nvSpPr>
          <p:cNvPr id="110" name="tx110"/>
          <p:cNvSpPr txBox="1"/>
          <p:nvPr/>
        </p:nvSpPr>
        <p:spPr>
          <a:xfrm>
            <a:off x="600000" y="2240000"/>
            <a:ext cx="5296000" cy="3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1  磁场标定缺失（最主要）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B、U、R 三列未填 → 只能以 I 为磁标度，ΔR/R</a:t>
            </a:r>
            <a:r>
              <a:rPr lang="zh-CN" altLang="en-US" sz="120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是归一化相对量，无绝对电阻。</a:t>
            </a:r>
          </a:p>
          <a:p>
            <a:pPr marL="0" indent="0">
              <a:spcBef>
                <a:spcPts val="700"/>
              </a:spcBef>
            </a:pPr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2  扫描路径依赖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同 |I| 处最大偏差 1.44 % FS，且集中在 dX/dI 最大的中场区 → 标定不重复被陡峭响应放大，故要求恒流源单向调节、不得回调。</a:t>
            </a:r>
          </a:p>
          <a:p>
            <a:pPr marL="0" indent="0">
              <a:spcBef>
                <a:spcPts val="700"/>
              </a:spcBef>
            </a:pPr>
            <a:r>
              <a:rPr lang="zh-CN" altLang="en-US" sz="14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3  离散采样的分辨上限</a:t>
            </a:r>
          </a:p>
          <a:p>
            <a:pPr marL="0" indent="0"/>
            <a:r>
              <a:rPr lang="zh-CN" altLang="en-US" sz="12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   角位移 3° 一格 → 3° 错位即 45 mV；开关 10 mA 一格 → 阈值 ±5 mA。</a:t>
            </a:r>
          </a:p>
        </p:txBody>
      </p:sp>
      <p:sp>
        <p:nvSpPr>
          <p:cNvPr id="111" name="tx111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四条结论</a:t>
            </a:r>
          </a:p>
        </p:txBody>
      </p:sp>
      <p:sp>
        <p:nvSpPr>
          <p:cNvPr id="112" name="tx112"/>
          <p:cNvSpPr txBox="1"/>
          <p:nvPr/>
        </p:nvSpPr>
        <p:spPr>
          <a:xfrm>
            <a:off x="6296000" y="2240000"/>
            <a:ext cx="5296000" cy="3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①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磁阻曲线呈饱和形，ΔR/R</a:t>
            </a:r>
            <a:r>
              <a:rPr lang="zh-CN" altLang="en-US" sz="1350" baseline="-250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0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 = 13.93 %，I½ = 31.4 mA；工作点应取低场陡峭区。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②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梯度模式输出周期信号，可直接反推机械参数：T = 24° ⇒ 15 齿，15.22 mV/°。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③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开关与线性是两种取舍：要“有无”用开关（带回差），要“多少”用线性（需比较器与校正）。</a:t>
            </a:r>
          </a:p>
          <a:p>
            <a:pPr marL="0" indent="0"/>
            <a:r>
              <a:rPr lang="zh-CN" altLang="en-US" sz="135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④ </a:t>
            </a:r>
            <a:r>
              <a:rPr lang="zh-CN" altLang="en-US" sz="13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偏置决定灵敏度：+18 % 灵敏度换 −1 个百分点线性度；全桥差分可同时改善两者。</a:t>
            </a:r>
          </a:p>
        </p:txBody>
      </p:sp>
      <p:sp>
        <p:nvSpPr>
          <p:cNvPr id="113" name="rc113"/>
          <p:cNvSpPr/>
          <p:nvPr/>
        </p:nvSpPr>
        <p:spPr>
          <a:xfrm>
            <a:off x="6296000" y="44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4" name="tx114"/>
          <p:cNvSpPr txBox="1"/>
          <p:nvPr/>
        </p:nvSpPr>
        <p:spPr>
          <a:xfrm>
            <a:off x="6496000" y="4580000"/>
            <a:ext cx="4896000" cy="4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本次数据的边界：缺 B—I 标定曲线，故 13.93 % 是归一化相对量而非绝对电阻；开关阈值受 10 mA 步长限制，不确定度 ±5 mA 大于两侧回差之差 1.90 mA。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7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