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33" r:id="rId3"/>
    <p:sldId id="1492" r:id="rId5"/>
    <p:sldId id="258" r:id="rId6"/>
    <p:sldId id="1553" r:id="rId7"/>
    <p:sldId id="1554" r:id="rId8"/>
    <p:sldId id="1555" r:id="rId9"/>
    <p:sldId id="1556" r:id="rId10"/>
    <p:sldId id="1603" r:id="rId11"/>
    <p:sldId id="1604" r:id="rId12"/>
    <p:sldId id="1559" r:id="rId13"/>
    <p:sldId id="1560" r:id="rId14"/>
    <p:sldId id="1452" r:id="rId15"/>
    <p:sldId id="1597" r:id="rId16"/>
    <p:sldId id="1598" r:id="rId17"/>
    <p:sldId id="1599" r:id="rId18"/>
    <p:sldId id="1600" r:id="rId19"/>
    <p:sldId id="1605" r:id="rId20"/>
    <p:sldId id="1606" r:id="rId21"/>
    <p:sldId id="1601" r:id="rId22"/>
    <p:sldId id="1602" r:id="rId23"/>
    <p:sldId id="1631" r:id="rId24"/>
    <p:sldId id="1607" r:id="rId25"/>
    <p:sldId id="1610" r:id="rId26"/>
    <p:sldId id="1611" r:id="rId27"/>
    <p:sldId id="1612" r:id="rId28"/>
    <p:sldId id="1613" r:id="rId29"/>
    <p:sldId id="1632" r:id="rId30"/>
    <p:sldId id="1615" r:id="rId31"/>
    <p:sldId id="1618" r:id="rId32"/>
    <p:sldId id="1619" r:id="rId33"/>
    <p:sldId id="1620" r:id="rId34"/>
    <p:sldId id="1621" r:id="rId35"/>
    <p:sldId id="1633" r:id="rId36"/>
    <p:sldId id="1623" r:id="rId37"/>
    <p:sldId id="1634" r:id="rId38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7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BE9F"/>
    <a:srgbClr val="FFFFFF"/>
    <a:srgbClr val="FFF57E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28"/>
        <p:guide pos="379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99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3.xml"/><Relationship Id="rId18" Type="http://schemas.openxmlformats.org/officeDocument/2006/relationships/image" Target="../media/image1.png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资源 17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535" y="94615"/>
            <a:ext cx="715010" cy="851535"/>
          </a:xfrm>
          <a:prstGeom prst="rect">
            <a:avLst/>
          </a:prstGeom>
        </p:spPr>
      </p:pic>
      <p:sp>
        <p:nvSpPr>
          <p:cNvPr id="9" name="矩形 8" descr="7b0a2020202022776f7264617274223a2022220a7d0a"/>
          <p:cNvSpPr/>
          <p:nvPr userDrawn="1"/>
        </p:nvSpPr>
        <p:spPr>
          <a:xfrm>
            <a:off x="8472806" y="151765"/>
            <a:ext cx="3281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3BE9F"/>
                </a:solidFill>
              </a14:hiddenFill>
            </a:ext>
          </a:extLst>
        </p:spPr>
        <p:txBody>
          <a:bodyPr wrap="non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2000">
                <a:solidFill>
                  <a:srgbClr val="43DDB0"/>
                </a:solidFill>
                <a:effectLst/>
                <a:latin typeface="WPS灵秀黑" charset="-122"/>
                <a:ea typeface="WPS灵秀黑" charset="-122"/>
                <a:sym typeface="WPS灵秀黑" charset="-122"/>
              </a:rPr>
              <a:t>备考没目标，就用</a:t>
            </a:r>
            <a:r>
              <a:rPr lang="zh-CN" altLang="en-US" sz="2800">
                <a:solidFill>
                  <a:srgbClr val="43DDB0"/>
                </a:solidFill>
                <a:effectLst/>
                <a:latin typeface="WPS灵秀黑" charset="-122"/>
                <a:ea typeface="WPS灵秀黑" charset="-122"/>
                <a:sym typeface="WPS灵秀黑" charset="-122"/>
              </a:rPr>
              <a:t>新向标</a:t>
            </a:r>
            <a:endParaRPr lang="zh-CN" altLang="en-US" sz="2800">
              <a:solidFill>
                <a:srgbClr val="43DDB0"/>
              </a:solidFill>
              <a:effectLst/>
              <a:latin typeface="WPS灵秀黑" charset="-122"/>
              <a:ea typeface="WPS灵秀黑" charset="-122"/>
              <a:sym typeface="WPS灵秀黑" charset="-122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19"/>
            </p:custDataLst>
          </p:nvPr>
        </p:nvCxnSpPr>
        <p:spPr>
          <a:xfrm flipV="1">
            <a:off x="8550910" y="580708"/>
            <a:ext cx="3133725" cy="9525"/>
          </a:xfrm>
          <a:prstGeom prst="line">
            <a:avLst/>
          </a:prstGeom>
          <a:ln w="19050" cmpd="sng">
            <a:solidFill>
              <a:srgbClr val="43DDB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5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Times New Roman" panose="02020603050405020304" charset="0"/>
          <a:ea typeface="华文楷体" panose="0201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slide" Target="slide21.xml"/><Relationship Id="rId7" Type="http://schemas.openxmlformats.org/officeDocument/2006/relationships/tags" Target="../tags/tag71.xml"/><Relationship Id="rId6" Type="http://schemas.openxmlformats.org/officeDocument/2006/relationships/slide" Target="slide12.xml"/><Relationship Id="rId5" Type="http://schemas.openxmlformats.org/officeDocument/2006/relationships/tags" Target="../tags/tag70.xml"/><Relationship Id="rId4" Type="http://schemas.openxmlformats.org/officeDocument/2006/relationships/slide" Target="slide3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slide" Target="slide33.xml"/><Relationship Id="rId11" Type="http://schemas.openxmlformats.org/officeDocument/2006/relationships/tags" Target="../tags/tag73.xml"/><Relationship Id="rId10" Type="http://schemas.openxmlformats.org/officeDocument/2006/relationships/slide" Target="slide27.xml"/><Relationship Id="rId1" Type="http://schemas.openxmlformats.org/officeDocument/2006/relationships/tags" Target="../tags/tag6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slide" Target="slide2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slide" Target="slide2.xml"/><Relationship Id="rId1" Type="http://schemas.openxmlformats.org/officeDocument/2006/relationships/tags" Target="../tags/tag10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slide" Target="slide2.xml"/><Relationship Id="rId1" Type="http://schemas.openxmlformats.org/officeDocument/2006/relationships/tags" Target="../tags/tag1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slide" Target="slide2.xml"/><Relationship Id="rId1" Type="http://schemas.openxmlformats.org/officeDocument/2006/relationships/tags" Target="../tags/tag16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slide" Target="slide2.xml"/><Relationship Id="rId1" Type="http://schemas.openxmlformats.org/officeDocument/2006/relationships/tags" Target="../tags/tag19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13890" y="1891030"/>
            <a:ext cx="4370070" cy="1969770"/>
          </a:xfrm>
        </p:spPr>
        <p:txBody>
          <a:bodyPr>
            <a:noAutofit/>
          </a:bodyPr>
          <a:p>
            <a:pPr algn="l">
              <a:lnSpc>
                <a:spcPct val="100000"/>
              </a:lnSpc>
            </a:pPr>
            <a:r>
              <a:rPr lang="zh-CN" altLang="en-US" sz="8000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大学英语</a:t>
            </a:r>
            <a:br>
              <a:rPr lang="zh-CN" altLang="en-US" sz="8000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</a:br>
            <a:r>
              <a:rPr lang="zh-CN" altLang="en-US" sz="8000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四级考试</a:t>
            </a:r>
            <a:endParaRPr lang="zh-CN" altLang="en-US" sz="8000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9080" y="4524375"/>
            <a:ext cx="5779770" cy="665480"/>
          </a:xfrm>
        </p:spPr>
        <p:txBody>
          <a:bodyPr>
            <a:no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3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202</a:t>
            </a:r>
            <a:r>
              <a:rPr lang="en-US" altLang="zh-CN" sz="3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6</a:t>
            </a:r>
            <a:r>
              <a:rPr lang="zh-CN" altLang="en-US" sz="3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年</a:t>
            </a:r>
            <a:r>
              <a:rPr lang="en-US" altLang="zh-CN" sz="3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6</a:t>
            </a:r>
            <a:r>
              <a:rPr lang="zh-CN" altLang="en-US" sz="3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月最新写作预测题</a:t>
            </a:r>
            <a:endParaRPr lang="zh-CN" altLang="en-US" sz="3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84705" y="4140200"/>
            <a:ext cx="4010660" cy="10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资源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775" y="1611630"/>
            <a:ext cx="2338705" cy="27838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635" y="0"/>
            <a:ext cx="30867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资源 37"/>
          <p:cNvPicPr>
            <a:picLocks noChangeAspect="1"/>
          </p:cNvPicPr>
          <p:nvPr/>
        </p:nvPicPr>
        <p:blipFill>
          <a:blip r:embed="rId2">
            <a:alphaModFix amt="20000"/>
            <a:lum bright="-90000" contrast="78000"/>
          </a:blip>
          <a:stretch>
            <a:fillRect/>
          </a:stretch>
        </p:blipFill>
        <p:spPr>
          <a:xfrm>
            <a:off x="1814830" y="1400810"/>
            <a:ext cx="2227580" cy="26479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7495" y="932180"/>
            <a:ext cx="7665720" cy="705485"/>
          </a:xfrm>
        </p:spPr>
        <p:txBody>
          <a:bodyPr>
            <a:noAutofit/>
          </a:bodyPr>
          <a:lstStyle/>
          <a:p>
            <a:pPr algn="r"/>
            <a:r>
              <a:rPr lang="zh-CN" altLang="en-US" sz="4800" kern="0" spc="-100">
                <a:solidFill>
                  <a:srgbClr val="63BE9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写作预测题</a:t>
            </a:r>
            <a:r>
              <a:rPr lang="en-US" altLang="zh-CN" sz="4800" kern="0" spc="-100">
                <a:solidFill>
                  <a:srgbClr val="63BE9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      </a:t>
            </a:r>
            <a:r>
              <a:rPr lang="zh-CN" altLang="en-US" sz="4800" kern="0" spc="-100">
                <a:solidFill>
                  <a:srgbClr val="63BE9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目录</a:t>
            </a:r>
            <a:endParaRPr lang="zh-CN" altLang="en-US" sz="4800" kern="0" spc="-100">
              <a:solidFill>
                <a:srgbClr val="63BE9F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695815" y="1798320"/>
            <a:ext cx="2317115" cy="665480"/>
          </a:xfrm>
        </p:spPr>
        <p:txBody>
          <a:bodyPr/>
          <a:lstStyle/>
          <a:p>
            <a:pPr marL="0" indent="0" algn="r">
              <a:lnSpc>
                <a:spcPct val="50000"/>
              </a:lnSpc>
              <a:buNone/>
            </a:pPr>
            <a:r>
              <a:rPr lang="en-US" altLang="zh-CN" sz="2400" b="1" cap="all">
                <a:solidFill>
                  <a:schemeClr val="bg1">
                    <a:lumMod val="8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 altLang="zh-CN" sz="2400" b="1" cap="all">
              <a:solidFill>
                <a:schemeClr val="bg1">
                  <a:lumMod val="8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01490" y="1779905"/>
            <a:ext cx="5642610" cy="457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圆角矩形 9">
            <a:hlinkClick r:id="rId4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4540885" y="2043430"/>
            <a:ext cx="4810125" cy="702945"/>
          </a:xfrm>
          <a:prstGeom prst="roundRect">
            <a:avLst/>
          </a:prstGeom>
          <a:solidFill>
            <a:srgbClr val="63BE9F"/>
          </a:solidFill>
          <a:ln>
            <a:solidFill>
              <a:srgbClr val="63BE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indent="0" algn="l" fontAlgn="auto">
              <a:buClrTx/>
              <a:buSzTx/>
              <a:buFontTx/>
            </a:pPr>
            <a:r>
              <a:rPr lang="en-US" altLang="zh-CN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1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、开展户外运动的重要性</a:t>
            </a:r>
            <a:endParaRPr lang="zh-CN" altLang="en-US" sz="20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9" name="圆角矩形 8">
            <a:hlinkClick r:id="rId6" action="ppaction://hlinksldjump"/>
          </p:cNvPr>
          <p:cNvSpPr/>
          <p:nvPr>
            <p:custDataLst>
              <p:tags r:id="rId7"/>
            </p:custDataLst>
          </p:nvPr>
        </p:nvSpPr>
        <p:spPr>
          <a:xfrm>
            <a:off x="4541520" y="2921000"/>
            <a:ext cx="4809490" cy="684530"/>
          </a:xfrm>
          <a:prstGeom prst="roundRect">
            <a:avLst/>
          </a:prstGeom>
          <a:solidFill>
            <a:srgbClr val="63BE9F"/>
          </a:solidFill>
          <a:ln>
            <a:solidFill>
              <a:srgbClr val="63BE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buClrTx/>
              <a:buSzTx/>
              <a:buFontTx/>
            </a:pPr>
            <a:r>
              <a:rPr lang="en-US" altLang="zh-CN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2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、要求所有大学生掌握计算机技能</a:t>
            </a:r>
            <a:endParaRPr lang="zh-CN" altLang="en-US" sz="20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11" name="圆角矩形 10">
            <a:hlinkClick r:id="rId8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4541520" y="3780155"/>
            <a:ext cx="4809490" cy="661035"/>
          </a:xfrm>
          <a:prstGeom prst="roundRect">
            <a:avLst/>
          </a:prstGeom>
          <a:solidFill>
            <a:srgbClr val="63BE9F"/>
          </a:solidFill>
          <a:ln>
            <a:solidFill>
              <a:srgbClr val="63BE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altLang="zh-CN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3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、</a:t>
            </a:r>
            <a:r>
              <a:rPr lang="en-US" altLang="zh-CN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AI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时代，大学生面临的机遇与挑战</a:t>
            </a:r>
            <a:endParaRPr lang="zh-CN" altLang="en-US" sz="20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12" name="圆角矩形 11">
            <a:hlinkClick r:id="rId10" action="ppaction://hlinksldjump"/>
          </p:cNvPr>
          <p:cNvSpPr/>
          <p:nvPr>
            <p:custDataLst>
              <p:tags r:id="rId11"/>
            </p:custDataLst>
          </p:nvPr>
        </p:nvSpPr>
        <p:spPr>
          <a:xfrm>
            <a:off x="4542155" y="4682490"/>
            <a:ext cx="4809490" cy="714375"/>
          </a:xfrm>
          <a:prstGeom prst="roundRect">
            <a:avLst/>
          </a:prstGeom>
          <a:solidFill>
            <a:srgbClr val="63BE9F"/>
          </a:solidFill>
          <a:ln>
            <a:solidFill>
              <a:srgbClr val="63BE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altLang="zh-CN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4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、邀请外教老师参加中国传统文化活动</a:t>
            </a:r>
            <a:endParaRPr lang="zh-CN" altLang="en-US" sz="20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13" name="圆角矩形 12">
            <a:hlinkClick r:id="rId12" action="ppaction://hlinksldjump"/>
          </p:cNvPr>
          <p:cNvSpPr/>
          <p:nvPr>
            <p:custDataLst>
              <p:tags r:id="rId13"/>
            </p:custDataLst>
          </p:nvPr>
        </p:nvSpPr>
        <p:spPr>
          <a:xfrm>
            <a:off x="4542790" y="5638165"/>
            <a:ext cx="4808855" cy="638810"/>
          </a:xfrm>
          <a:prstGeom prst="roundRect">
            <a:avLst/>
          </a:prstGeom>
          <a:solidFill>
            <a:srgbClr val="63BE9F"/>
          </a:solidFill>
          <a:ln>
            <a:solidFill>
              <a:srgbClr val="63BE9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altLang="zh-CN" sz="2000" b="1" kern="0" spc="-100">
                <a:solidFill>
                  <a:schemeClr val="bg1"/>
                </a:solidFill>
                <a:uFillTx/>
                <a:latin typeface="Times New Roman" panose="02020603050405020304" charset="0"/>
                <a:ea typeface="优设标题黑" panose="00000500000000000000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Times New Roman" panose="02020603050405020304" charset="0"/>
                <a:ea typeface="优设标题黑" panose="00000500000000000000" charset="-122"/>
                <a:cs typeface="Times New Roman" panose="02020603050405020304" charset="0"/>
                <a:sym typeface="+mn-ea"/>
              </a:rPr>
              <a:t>、</a:t>
            </a:r>
            <a:r>
              <a:rPr lang="zh-CN" altLang="en-US" sz="20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四级作文通用模板</a:t>
            </a:r>
            <a:endParaRPr lang="zh-CN" altLang="en-US" sz="20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9340" y="333375"/>
            <a:ext cx="10053320" cy="2159635"/>
          </a:xfrm>
        </p:spPr>
        <p:txBody>
          <a:bodyPr/>
          <a:p>
            <a:pPr algn="ctr">
              <a:lnSpc>
                <a:spcPct val="80000"/>
              </a:lnSpc>
            </a:pPr>
            <a:r>
              <a:rPr lang="en-US" altLang="zh-CN" b="0" kern="0" spc="-100">
                <a:solidFill>
                  <a:schemeClr val="bg1">
                    <a:lumMod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优设标题黑" panose="00000500000000000000" charset="-122"/>
              </a:rPr>
              <a:t>01</a:t>
            </a:r>
            <a:endParaRPr lang="en-US" altLang="zh-CN" b="0" kern="0" spc="-100">
              <a:solidFill>
                <a:schemeClr val="bg1">
                  <a:lumMod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优设标题黑" panose="00000500000000000000" charset="-122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851025" y="2586355"/>
            <a:ext cx="849122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写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作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-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预测题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1</a:t>
            </a:r>
            <a:endParaRPr lang="en-US" altLang="zh-CN" sz="6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689100" y="3961130"/>
            <a:ext cx="8804275" cy="132651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800" b="1" kern="0" spc="-100">
                <a:solidFill>
                  <a:schemeClr val="bg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  <a:sym typeface="+mn-ea"/>
              </a:rPr>
              <a:t>开展户外运动的重要性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The Importance of Outdoor Sports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23950"/>
            <a:ext cx="11092815" cy="4211955"/>
          </a:xfrm>
        </p:spPr>
        <p:txBody>
          <a:bodyPr>
            <a:normAutofit lnSpcReduction="20000"/>
          </a:bodyPr>
          <a:p>
            <a:pPr marL="0" indent="0" algn="just">
              <a:lnSpc>
                <a:spcPct val="200000"/>
              </a:lnSpc>
              <a:buNone/>
            </a:pPr>
            <a:r>
              <a:rPr lang="en-US" altLang="zh-CN" sz="2800" b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Directions: 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Suppose the university newspaper is inviting submissions from students for its coming edition on </a:t>
            </a:r>
            <a:r>
              <a:rPr lang="en-US" altLang="zh-CN" sz="2800" b="1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the importance of outdoor sports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. You are now to write an essay for submission. You will have 30 minutes to write the essay.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You should write at least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120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 but no more than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180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words.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800" b="1" i="1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01625" y="945515"/>
            <a:ext cx="11480165" cy="5624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分析本套试题的题干可知，</a:t>
            </a:r>
            <a:r>
              <a:rPr lang="en-US" altLang="zh-CN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Suppose the university newspaper is inviting submissions from students for its coming edition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设定了写作背景，即“校报正在向学生征集稿件”；</a:t>
            </a:r>
            <a:r>
              <a:rPr lang="en-US" altLang="zh-CN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the importance of outdoor sports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明确了稿件主题是“户外运动的重要性”，这是写作的核心话题；</a:t>
            </a:r>
            <a:r>
              <a:rPr lang="en-US" altLang="zh-CN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write an essay for submission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点明了写作任务，即“写一篇短文投稿”。</a:t>
            </a:r>
            <a:endParaRPr lang="zh-CN" altLang="en-US" sz="2800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indent="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综合题干信息可知，本题属于</a:t>
            </a:r>
            <a:r>
              <a:rPr lang="zh-CN" altLang="en-US" sz="2800" b="1"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议论文写作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，要求学生就“户外运动的重要性”发表自己的看法。因此，考生可以结合自己的实际经历，选择2～3个最有把握的角度展开论述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800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8035" y="2565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写作指南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13690" y="1199515"/>
            <a:ext cx="11612880" cy="488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fontAlgn="auto">
              <a:lnSpc>
                <a:spcPct val="20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整体文章布局可以分三段展开。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20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第一段：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导入段——指出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当今学生很少参加户外活动的现状，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引出主题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20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第二段：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主体段——分别阐述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户外运动对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身体健康和心理健康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的积极作用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20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第三段：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结尾段——总结全文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，呼吁学生积极参与户外活动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88035" y="40576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布局谋篇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36905" y="1054735"/>
          <a:ext cx="10884535" cy="458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130"/>
                <a:gridCol w="4510405"/>
              </a:tblGrid>
              <a:tr h="4581525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 today’s digital age, more and more students prefer to stay indoors, spending long hours on electronic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devices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and rarely engaging in outdoor activities. However, outdoor sports play an extremely important role in our campus life and personal development.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在如今的数字化时代，越来越多学生喜欢待在室内，长时间使用电子设备，很少参与户外活动。然而，户外运动在我们的校园生活和个人成长中发挥着至关重要的作用。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4265930" y="2577465"/>
            <a:ext cx="115760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标注 18"/>
          <p:cNvSpPr/>
          <p:nvPr>
            <p:custDataLst>
              <p:tags r:id="rId3"/>
            </p:custDataLst>
          </p:nvPr>
        </p:nvSpPr>
        <p:spPr>
          <a:xfrm>
            <a:off x="4265930" y="1764030"/>
            <a:ext cx="115760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/d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va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设备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1" animBg="1"/>
      <p:bldP spid="19" grpId="0" bldLvl="0" animBg="1"/>
      <p:bldP spid="1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3876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41300" y="842010"/>
          <a:ext cx="11636375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4215"/>
                <a:gridCol w="4582160"/>
              </a:tblGrid>
              <a:tr h="5473700">
                <a:tc>
                  <a:txBody>
                    <a:bodyPr/>
                    <a:p>
                      <a:pPr indent="45720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Firstly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outdoor sports are beneficial to our physical health. Activities like running, cycling and playing ball games help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build up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our strength, improve blood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circulation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and strengthen the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immune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system. They can effectively lower the risk of near-sightedness and relieve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fatigue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caused by intense academic pressure. </a:t>
                      </a: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Secondly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outdoor sports contribute greatly to our mental well-being. Being close to nature and enjoying fresh air helps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free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us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from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pressure and anxiety. Meanwhile, team sports teach us cooperation, communication and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perseverance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all of which are important qualities for future endeavors.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首先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，户外运动有益于我们的身体健康。跑步、骑行和球类运动等项目能够增强体质、促进血液循环并提高免疫力。它们能有效降低因学业繁重带来的近视风险，缓解身体疲劳。</a:t>
                      </a: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其次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，户外运动对我们的心理健康大有裨益。亲近自然、呼吸新鲜空气可以帮助我们摆脱压力与焦虑。同时，团队运动还能培养我们的合作意识、沟通能力和毅力，这些都是未来生活中十分重要的品质。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277995" y="2393315"/>
            <a:ext cx="1138555" cy="3549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>
            <p:custDataLst>
              <p:tags r:id="rId3"/>
            </p:custDataLst>
          </p:nvPr>
        </p:nvSpPr>
        <p:spPr>
          <a:xfrm>
            <a:off x="4277995" y="1529715"/>
            <a:ext cx="124968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mju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ː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免疫的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08505" y="1934210"/>
            <a:ext cx="1263650" cy="37528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>
            <p:custDataLst>
              <p:tags r:id="rId4"/>
            </p:custDataLst>
          </p:nvPr>
        </p:nvSpPr>
        <p:spPr>
          <a:xfrm>
            <a:off x="2107565" y="1082675"/>
            <a:ext cx="106553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build up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增强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4960" y="2413635"/>
            <a:ext cx="1422400" cy="3549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>
            <p:custDataLst>
              <p:tags r:id="rId5"/>
            </p:custDataLst>
          </p:nvPr>
        </p:nvSpPr>
        <p:spPr>
          <a:xfrm>
            <a:off x="114300" y="1550035"/>
            <a:ext cx="1623060" cy="630555"/>
          </a:xfrm>
          <a:prstGeom prst="wedgeRectCallout">
            <a:avLst>
              <a:gd name="adj1" fmla="val 1998"/>
              <a:gd name="adj2" fmla="val 84239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/ˌs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ɜ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ː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kj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ʊˈ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le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ɪʃə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循环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10640" y="3293745"/>
            <a:ext cx="90805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6"/>
            </p:custDataLst>
          </p:nvPr>
        </p:nvSpPr>
        <p:spPr>
          <a:xfrm>
            <a:off x="1778000" y="2486025"/>
            <a:ext cx="1122680" cy="630555"/>
          </a:xfrm>
          <a:prstGeom prst="wedgeRectCallout">
            <a:avLst>
              <a:gd name="adj1" fmla="val -36764"/>
              <a:gd name="adj2" fmla="val 73464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/f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ti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ːɡ/ </a:t>
            </a:r>
            <a:endParaRPr lang="en-US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疲惫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2045" y="4716780"/>
            <a:ext cx="188531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标注 14"/>
          <p:cNvSpPr/>
          <p:nvPr>
            <p:custDataLst>
              <p:tags r:id="rId7"/>
            </p:custDataLst>
          </p:nvPr>
        </p:nvSpPr>
        <p:spPr>
          <a:xfrm>
            <a:off x="2574925" y="3889375"/>
            <a:ext cx="159067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free from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摆脱；免于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79420" y="5683885"/>
            <a:ext cx="173482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标注 16"/>
          <p:cNvSpPr/>
          <p:nvPr>
            <p:custDataLst>
              <p:tags r:id="rId8"/>
            </p:custDataLst>
          </p:nvPr>
        </p:nvSpPr>
        <p:spPr>
          <a:xfrm>
            <a:off x="4394835" y="4859020"/>
            <a:ext cx="1622425" cy="630555"/>
          </a:xfrm>
          <a:prstGeom prst="wedgeRectCallout">
            <a:avLst>
              <a:gd name="adj1" fmla="val -35401"/>
              <a:gd name="adj2" fmla="val 7114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/ˌp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ɜ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ː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ns/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毅力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2" grpId="1" animBg="1"/>
      <p:bldP spid="5" grpId="0" bldLvl="0" animBg="1"/>
      <p:bldP spid="5" grpId="1" animBg="1"/>
      <p:bldP spid="7" grpId="1" animBg="1"/>
      <p:bldP spid="8" grpId="0" bldLvl="0" animBg="1"/>
      <p:bldP spid="8" grpId="1" animBg="1"/>
      <p:bldP spid="10" grpId="1" animBg="1"/>
      <p:bldP spid="11" grpId="0" bldLvl="0" animBg="1"/>
      <p:bldP spid="11" grpId="1" animBg="1"/>
      <p:bldP spid="12" grpId="1" animBg="1"/>
      <p:bldP spid="13" grpId="0" bldLvl="0" animBg="1"/>
      <p:bldP spid="13" grpId="1" animBg="1"/>
      <p:bldP spid="14" grpId="1" animBg="1"/>
      <p:bldP spid="15" grpId="0" bldLvl="0" animBg="1"/>
      <p:bldP spid="15" grpId="1" animBg="1"/>
      <p:bldP spid="16" grpId="1" animBg="1"/>
      <p:bldP spid="17" grpId="0" bldLvl="0" animBg="1"/>
      <p:bldP spid="1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755015" y="1337310"/>
          <a:ext cx="1067435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9985"/>
                <a:gridCol w="4444365"/>
              </a:tblGrid>
              <a:tr h="3507740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 conclusion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outdoor sports offer us both physical fitness and mental pleasure. We should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step out of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the classrooms and dormitories, take part in various outdoor activities and enjoy a healthier and more colorful life.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总之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，户外运动既能强健体魄，又能愉悦身心。我们应该走出教室和宿舍，参与各类户外活动，享受更健康、更丰富多彩的生活。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450465" y="2849245"/>
            <a:ext cx="159766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2682875" y="2074545"/>
            <a:ext cx="1245870" cy="630555"/>
          </a:xfrm>
          <a:prstGeom prst="wedgeRectCallout">
            <a:avLst>
              <a:gd name="adj1" fmla="val -27029"/>
              <a:gd name="adj2" fmla="val 7114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step out of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走出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374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核心词汇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925195" y="1252220"/>
          <a:ext cx="10323830" cy="4805680"/>
        </p:xfrm>
        <a:graphic>
          <a:graphicData uri="http://schemas.openxmlformats.org/drawingml/2006/table">
            <a:tbl>
              <a:tblPr/>
              <a:tblGrid>
                <a:gridCol w="5648325"/>
                <a:gridCol w="4675505"/>
              </a:tblGrid>
              <a:tr h="1201420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device /dɪˈvaɪs/ </a:t>
                      </a:r>
                      <a:r>
                        <a:rPr lang="en-US" altLang="zh-CN" sz="2800" b="0" i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设备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build up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增强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1420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circulation /ˌsɜːkjʊˈleɪʃən/ </a:t>
                      </a:r>
                      <a:r>
                        <a:rPr lang="en-US" altLang="zh-CN" sz="2800" b="0" i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循环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immune /ɪˈmjuːn/ </a:t>
                      </a:r>
                      <a:r>
                        <a:rPr lang="en-US" altLang="zh-CN" sz="2800" b="0" i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a. </a:t>
                      </a:r>
                      <a:r>
                        <a:rPr lang="zh-CN" sz="2800" b="0" i="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免疫的</a:t>
                      </a:r>
                      <a:endParaRPr lang="zh-CN" sz="2800" b="0" i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1420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fatigue /fə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ˈtiːɡ/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n.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疲惫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free from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摆脱；免于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1420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perseverance /ˌpɜːsəˈvɪərəns/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毅力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step out of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走出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1526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【表达积累】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06425" y="1116965"/>
          <a:ext cx="10843260" cy="4986020"/>
        </p:xfrm>
        <a:graphic>
          <a:graphicData uri="http://schemas.openxmlformats.org/drawingml/2006/table">
            <a:tbl>
              <a:tblPr/>
              <a:tblGrid>
                <a:gridCol w="3295650"/>
                <a:gridCol w="4097655"/>
                <a:gridCol w="3449955"/>
              </a:tblGrid>
              <a:tr h="65341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中文释义</a:t>
                      </a:r>
                      <a:endParaRPr lang="zh-CN" sz="24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</a:rPr>
                        <a:t>文中表达</a:t>
                      </a:r>
                      <a:endParaRPr lang="zh-CN" sz="24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</a:rPr>
                        <a:t>替换表达</a:t>
                      </a:r>
                      <a:endParaRPr lang="zh-CN" sz="24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1734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在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……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中发挥着至关重要的作用</a:t>
                      </a:r>
                      <a:endParaRPr lang="zh-CN" altLang="en-US" sz="24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play an extremely important role in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very important in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835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增强体质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/</a:t>
                      </a: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强健体魄</a:t>
                      </a:r>
                      <a:endParaRPr lang="zh-CN" sz="24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build up our strength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make us stronger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962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降低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……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的风险</a:t>
                      </a:r>
                      <a:endParaRPr lang="zh-CN" altLang="en-US" sz="24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lower the risk of ...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decrease the chance of ...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0835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摆脱压力与焦虑</a:t>
                      </a:r>
                      <a:endParaRPr lang="zh-CN" sz="24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free us from pressure and anxiety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relieve us of stress and worries</a:t>
                      </a:r>
                      <a:endParaRPr lang="en-US" altLang="zh-CN" sz="2400" b="1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9340" y="333375"/>
            <a:ext cx="10053320" cy="2405380"/>
          </a:xfrm>
        </p:spPr>
        <p:txBody>
          <a:bodyPr/>
          <a:p>
            <a:pPr algn="ctr">
              <a:lnSpc>
                <a:spcPct val="80000"/>
              </a:lnSpc>
            </a:pPr>
            <a:r>
              <a:rPr lang="en-US" altLang="zh-CN" b="0" kern="0" spc="-100">
                <a:solidFill>
                  <a:schemeClr val="bg1">
                    <a:lumMod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优设标题黑" panose="00000500000000000000" charset="-122"/>
              </a:rPr>
              <a:t> 02</a:t>
            </a:r>
            <a:endParaRPr lang="en-US" altLang="zh-CN" b="0" kern="0" spc="-100">
              <a:solidFill>
                <a:schemeClr val="bg1">
                  <a:lumMod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优设标题黑" panose="00000500000000000000" charset="-122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942465" y="2626995"/>
            <a:ext cx="849122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写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作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-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预测题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2</a:t>
            </a:r>
            <a:endParaRPr lang="en-US" altLang="zh-CN" sz="6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25140" y="4043680"/>
            <a:ext cx="6448425" cy="186055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800" b="1" kern="0" spc="-100">
                <a:solidFill>
                  <a:schemeClr val="bg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  <a:sym typeface="+mn-ea"/>
              </a:rPr>
              <a:t>要求所有大学生掌握计算机技能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Requiring All University Students to Master Computer Skills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23950"/>
            <a:ext cx="11092815" cy="4211955"/>
          </a:xfrm>
        </p:spPr>
        <p:txBody>
          <a:bodyPr>
            <a:normAutofit lnSpcReduction="20000"/>
          </a:bodyPr>
          <a:p>
            <a:pPr marL="0" indent="0" algn="just">
              <a:lnSpc>
                <a:spcPct val="200000"/>
              </a:lnSpc>
              <a:buNone/>
            </a:pPr>
            <a:r>
              <a:rPr lang="en-US" altLang="zh-CN" sz="2800" b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Directions: 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Suppose it is proposed that </a:t>
            </a:r>
            <a:r>
              <a:rPr lang="en-US" altLang="zh-CN" sz="2800" b="1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all university students should be required to master computer skills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. You are now to </a:t>
            </a:r>
            <a:r>
              <a:rPr lang="en-US" altLang="zh-CN" sz="2800" b="1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write a response by stating what you think of the proposal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. You will have 30 minutes to write the essay. You should write at least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120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 but no more than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180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words.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800" b="1" i="1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01625" y="1005840"/>
            <a:ext cx="11480165" cy="5564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分析本套试题的题干可知，</a:t>
            </a:r>
            <a:r>
              <a:rPr lang="en-US" altLang="zh-CN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Suppose it is proposed that all university students should be required to master computer skills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设定了写作背景，即“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有人提议应要求所有大学生掌握计算机技能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”，这也是写作的核心话题；</a:t>
            </a:r>
            <a:r>
              <a:rPr lang="en-US" altLang="zh-CN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write a response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提示写作任务为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撰写一篇回应性文章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，因此可采用议论文文体展开写作；</a:t>
            </a:r>
            <a:r>
              <a:rPr lang="en-US" altLang="zh-CN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by stating what you think of the proposal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进一步聚焦于写作的核心要求，即“表达个人对该提议的看法”。</a:t>
            </a:r>
            <a:endParaRPr lang="zh-CN" altLang="en-US" sz="2800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indent="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综合题干信息，可知本套试题属于典型的“</a:t>
            </a:r>
            <a:r>
              <a:rPr lang="zh-CN" altLang="en-US" sz="2800"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观点论证型</a:t>
            </a:r>
            <a:r>
              <a:rPr lang="zh-CN" altLang="en-US" sz="2800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”写作，要求考生选择立场并展开有逻辑的论述。</a:t>
            </a:r>
            <a:endParaRPr lang="zh-CN" altLang="en-US" sz="2800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8035" y="2565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写作指南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91515" y="927735"/>
            <a:ext cx="10727055" cy="515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整体文章布局可以分三段展开。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第一段：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导入段</a:t>
            </a:r>
            <a:r>
              <a:rPr lang="en-US" altLang="zh-CN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引出争议话题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，对比不同观点，并表明自己的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    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立场：支持“要求所有大学生掌握计算机技能”这一提议。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第二段：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主体段</a:t>
            </a:r>
            <a:r>
              <a:rPr lang="en-US" altLang="zh-CN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从提高学习效率、增强就业竞争力、跟上社会</a:t>
            </a:r>
            <a:r>
              <a:rPr lang="en-US" altLang="zh-CN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      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发展步伐三个方面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出发，具体论述大学生掌握计算机技能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	    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的重要作用。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第三段：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结尾段</a:t>
            </a:r>
            <a:r>
              <a:rPr lang="en-US" altLang="zh-CN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800" b="1"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总结观点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，建议学校开设相关课程以帮助学生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    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提升这一能力。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788035" y="2863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布局谋篇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482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91160" y="907415"/>
          <a:ext cx="11489055" cy="569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450"/>
                <a:gridCol w="4840605"/>
              </a:tblGrid>
              <a:tr h="5697220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Opinions are still divided over whether all university students should be required to master computer skills. </a:t>
                      </a:r>
                      <a:r>
                        <a:rPr lang="en-US" altLang="zh-CN" sz="26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Some argue that</a:t>
                      </a: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such skills are unnecessary for students majoring in more </a:t>
                      </a:r>
                      <a:r>
                        <a:rPr lang="en-US" altLang="zh-CN" sz="2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theoretical</a:t>
                      </a: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subjects, </a:t>
                      </a:r>
                      <a:r>
                        <a:rPr lang="en-US" altLang="zh-CN" sz="26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while others believe</a:t>
                      </a: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computer skills are essential in modern society. </a:t>
                      </a:r>
                      <a:r>
                        <a:rPr lang="en-US" altLang="zh-CN" sz="26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From my perspective</a:t>
                      </a:r>
                      <a:r>
                        <a:rPr lang="en-US" altLang="zh-CN" sz="2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</a:t>
                      </a: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mastering computer skills is necessary and </a:t>
                      </a:r>
                      <a:r>
                        <a:rPr lang="en-US" altLang="zh-CN" sz="26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beneficial to</a:t>
                      </a:r>
                      <a:r>
                        <a:rPr lang="en-US" altLang="zh-CN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both our academic studies and future career development.</a:t>
                      </a:r>
                      <a:endParaRPr lang="en-US" altLang="zh-CN" sz="2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关于是否应要求所有大学生掌握计算机技能，人们看法不一。</a:t>
                      </a:r>
                      <a:r>
                        <a:rPr lang="zh-CN" altLang="en-US" sz="26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有人认为</a:t>
                      </a:r>
                      <a:r>
                        <a:rPr lang="zh-CN" altLang="en-US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，对于攻读偏理论型专业的学生而言，这类技能并非必需；</a:t>
                      </a:r>
                      <a:r>
                        <a:rPr lang="zh-CN" altLang="en-US" sz="26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而另一些人则认为</a:t>
                      </a:r>
                      <a:r>
                        <a:rPr lang="zh-CN" altLang="en-US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，在现代社会中，计算机技能是不可或缺的。</a:t>
                      </a:r>
                      <a:r>
                        <a:rPr lang="zh-CN" altLang="en-US" sz="26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在我看来</a:t>
                      </a:r>
                      <a:r>
                        <a:rPr lang="zh-CN" altLang="en-US" sz="2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，掌握计算机技能对我们的学术研究和未来职业发展都十分必要，且大有裨益。</a:t>
                      </a:r>
                      <a:endParaRPr lang="zh-CN" altLang="en-US" sz="2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0375" y="3504565"/>
            <a:ext cx="1564640" cy="383540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579755" y="2628265"/>
            <a:ext cx="142367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/ˌθ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ɪəˈ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理论的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78250" y="5240020"/>
            <a:ext cx="183007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>
            <p:custDataLst>
              <p:tags r:id="rId4"/>
            </p:custDataLst>
          </p:nvPr>
        </p:nvSpPr>
        <p:spPr>
          <a:xfrm>
            <a:off x="3798570" y="4375150"/>
            <a:ext cx="201993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be beneficial to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对……大有裨益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  <p:bldP spid="7" grpId="1" animBg="1"/>
      <p:bldP spid="8" grpId="0" bldLvl="0" animBg="1"/>
      <p:bldP spid="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1454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05435" y="1009015"/>
          <a:ext cx="11614785" cy="553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5300"/>
                <a:gridCol w="4769485"/>
              </a:tblGrid>
              <a:tr h="5532755">
                <a:tc>
                  <a:txBody>
                    <a:bodyPr/>
                    <a:p>
                      <a:pPr indent="457200" algn="just" fontAlgn="auto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24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To begin with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computer skills have become a fundamental requirement in the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digital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era. Students rely on computers to search for materials, write papers and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process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data, which greatly improves learning efficiency. </a:t>
                      </a: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Besides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excellent computer skills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are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highly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valued by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employers. No matter what major we choose, we need to operate office software and do online work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competentl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y in future jobs. </a:t>
                      </a:r>
                      <a:r>
                        <a:rPr lang="en-US" altLang="zh-CN" sz="24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 addition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good computer skills help us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keep pace with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social development and broaden our horizons. We can use the Internet to learn new knowledge and communicate with others conveniently.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4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首先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，在数字时代，计算机技能已成为一项基本素养。学生们借助电脑查阅资料、撰写论文、处理数据，这可以极大地提高我们的学习效率。</a:t>
                      </a:r>
                      <a:r>
                        <a:rPr lang="zh-CN" altLang="en-US" sz="24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此外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，娴熟的计算机技能也深受企业青睐。无论我们攻读何种专业，在未来的工作中都需要熟练操作办公软件、处理线上工作。</a:t>
                      </a:r>
                      <a:r>
                        <a:rPr lang="zh-CN" altLang="en-US" sz="2400" b="1">
                          <a:gradFill>
                            <a:gsLst>
                              <a:gs pos="50000">
                                <a:schemeClr val="accent1"/>
                              </a:gs>
                              <a:gs pos="0">
                                <a:schemeClr val="accent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除此之外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，出色的计算机技能还有助于我们紧跟社会发展步伐、拓宽视野。我们可以借助互联网学习新知识，便捷地与他人交流沟通。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301750" y="3371215"/>
            <a:ext cx="1294765" cy="33591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2596515" y="2583815"/>
            <a:ext cx="1444625" cy="630555"/>
          </a:xfrm>
          <a:prstGeom prst="wedgeRectCallout">
            <a:avLst>
              <a:gd name="adj1" fmla="val -47287"/>
              <a:gd name="adj2" fmla="val 7245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be valued by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被重视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71670" y="1530985"/>
            <a:ext cx="881380" cy="410210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>
            <p:custDataLst>
              <p:tags r:id="rId4"/>
            </p:custDataLst>
          </p:nvPr>
        </p:nvSpPr>
        <p:spPr>
          <a:xfrm>
            <a:off x="4562475" y="667385"/>
            <a:ext cx="119253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/ˈd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d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ʒɪ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数字的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74490" y="4641850"/>
            <a:ext cx="2069465" cy="35623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>
            <p:custDataLst>
              <p:tags r:id="rId5"/>
            </p:custDataLst>
          </p:nvPr>
        </p:nvSpPr>
        <p:spPr>
          <a:xfrm>
            <a:off x="4336415" y="3707130"/>
            <a:ext cx="174498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keep pace with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紧跟，跟上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66470" y="2476500"/>
            <a:ext cx="1054735" cy="3549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6"/>
            </p:custDataLst>
          </p:nvPr>
        </p:nvSpPr>
        <p:spPr>
          <a:xfrm>
            <a:off x="1122680" y="1613535"/>
            <a:ext cx="102679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/pr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处理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21205" y="4177665"/>
            <a:ext cx="1572895" cy="39179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标注 14"/>
          <p:cNvSpPr/>
          <p:nvPr>
            <p:custDataLst>
              <p:tags r:id="rId7"/>
            </p:custDataLst>
          </p:nvPr>
        </p:nvSpPr>
        <p:spPr>
          <a:xfrm>
            <a:off x="1755140" y="4759960"/>
            <a:ext cx="1470025" cy="630555"/>
          </a:xfrm>
          <a:prstGeom prst="wedgeRectCallout">
            <a:avLst>
              <a:gd name="adj1" fmla="val 17715"/>
              <a:gd name="adj2" fmla="val -61681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/ˈk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ɒ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mp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ntl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ɪ/ </a:t>
            </a:r>
            <a:endParaRPr lang="en-US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ad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胜任地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  <p:bldP spid="2" grpId="1" animBg="1"/>
      <p:bldP spid="5" grpId="0" bldLvl="0" animBg="1"/>
      <p:bldP spid="5" grpId="1" animBg="1"/>
      <p:bldP spid="10" grpId="1" animBg="1"/>
      <p:bldP spid="11" grpId="0" bldLvl="0" animBg="1"/>
      <p:bldP spid="11" grpId="1" animBg="1"/>
      <p:bldP spid="12" grpId="1" animBg="1"/>
      <p:bldP spid="13" grpId="0" bldLvl="0" animBg="1"/>
      <p:bldP spid="13" grpId="1" animBg="1"/>
      <p:bldP spid="14" grpId="1" animBg="1"/>
      <p:bldP spid="15" grpId="0" bldLvl="0" animBg="1"/>
      <p:bldP spid="1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049020" y="1221105"/>
          <a:ext cx="10104755" cy="350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260"/>
                <a:gridCol w="4341495"/>
              </a:tblGrid>
              <a:tr h="2935605">
                <a:tc>
                  <a:txBody>
                    <a:bodyPr/>
                    <a:p>
                      <a:pPr indent="457200" algn="just" fontAlgn="auto">
                        <a:lnSpc>
                          <a:spcPct val="160000"/>
                        </a:lnSpc>
                        <a:buNone/>
                      </a:pPr>
                      <a:r>
                        <a:rPr lang="en-US" altLang="zh-CN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 conclusion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it is wise to require college students to master computer skills. Schools should offer 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relevant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courses to help us improve these important abilities.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60000"/>
                        </a:lnSpc>
                        <a:buNone/>
                      </a:pPr>
                      <a:r>
                        <a:rPr lang="zh-CN" altLang="en-US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总之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，要求大学生掌握计算机技能是明智之举。学校应当开设相关课程，助力我们提升这些重要能力。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5470525" y="2890520"/>
            <a:ext cx="128270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>
            <p:custDataLst>
              <p:tags r:id="rId3"/>
            </p:custDataLst>
          </p:nvPr>
        </p:nvSpPr>
        <p:spPr>
          <a:xfrm>
            <a:off x="5497195" y="2030730"/>
            <a:ext cx="1215390" cy="630555"/>
          </a:xfrm>
          <a:prstGeom prst="wedgeRectCallout">
            <a:avLst>
              <a:gd name="adj1" fmla="val -21034"/>
              <a:gd name="adj2" fmla="val 7386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nt/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相关的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2" grpId="1" animBg="1"/>
      <p:bldP spid="5" grpId="0" bldLvl="0" animBg="1"/>
      <p:bldP spid="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374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核心词汇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50240" y="1201420"/>
          <a:ext cx="11241405" cy="4940300"/>
        </p:xfrm>
        <a:graphic>
          <a:graphicData uri="http://schemas.openxmlformats.org/drawingml/2006/table">
            <a:tbl>
              <a:tblPr/>
              <a:tblGrid>
                <a:gridCol w="5322570"/>
                <a:gridCol w="5918835"/>
              </a:tblGrid>
              <a:tr h="12350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theoretical /ˌθɪəˈrɛtɪkəl/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理论的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beneficial to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对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……</a:t>
                      </a:r>
                      <a:r>
                        <a:rPr lang="zh-CN" altLang="en-US" sz="2800" b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大有裨益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digital /ˈdɪdʒɪtəl/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数字的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process /prəˈsɛs/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处理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valued by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被重视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competently /ˈkɒmpɪtəntlɪ/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ad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胜任地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350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keep pace with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紧跟，跟上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relevant /ˈrɛlɪvənt/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相关的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1526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【表达积累】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87985" y="987425"/>
          <a:ext cx="11416665" cy="5053965"/>
        </p:xfrm>
        <a:graphic>
          <a:graphicData uri="http://schemas.openxmlformats.org/drawingml/2006/table">
            <a:tbl>
              <a:tblPr/>
              <a:tblGrid>
                <a:gridCol w="3392805"/>
                <a:gridCol w="3924935"/>
                <a:gridCol w="4098925"/>
              </a:tblGrid>
              <a:tr h="53086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</a:rPr>
                        <a:t>中文释义</a:t>
                      </a:r>
                      <a:endParaRPr lang="zh-CN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</a:rPr>
                        <a:t>文中表达</a:t>
                      </a:r>
                      <a:endParaRPr lang="zh-CN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</a:rPr>
                        <a:t>替换表达</a:t>
                      </a:r>
                      <a:endParaRPr lang="zh-CN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45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关于</a:t>
                      </a:r>
                      <a:r>
                        <a:rPr lang="en-US" alt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……</a:t>
                      </a:r>
                      <a:r>
                        <a:rPr lang="zh-CN" altLang="en-US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，人们看法不一</a:t>
                      </a:r>
                      <a:endParaRPr lang="zh-CN" altLang="en-US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Opinions are still divided over ...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People have different views on ...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45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对</a:t>
                      </a:r>
                      <a:r>
                        <a:rPr lang="en-US" alt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……</a:t>
                      </a:r>
                      <a:r>
                        <a:rPr lang="zh-CN" altLang="en-US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大有裨益</a:t>
                      </a:r>
                      <a:endParaRPr lang="zh-CN" altLang="en-US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beneficial to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good for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45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基本素养</a:t>
                      </a:r>
                      <a:r>
                        <a:rPr lang="en-US" alt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/</a:t>
                      </a: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必备条件</a:t>
                      </a:r>
                      <a:endParaRPr lang="zh-CN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fundamental requirement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basic need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4575"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深受</a:t>
                      </a:r>
                      <a:r>
                        <a:rPr lang="en-US" alt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……</a:t>
                      </a:r>
                      <a:r>
                        <a:rPr lang="zh-CN" altLang="en-US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青睐</a:t>
                      </a:r>
                      <a:r>
                        <a:rPr lang="en-US" alt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/</a:t>
                      </a:r>
                      <a:r>
                        <a:rPr lang="zh-CN" sz="2800" b="1">
                          <a:highlight>
                            <a:srgbClr val="FFFF00"/>
                          </a:highlight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重视</a:t>
                      </a:r>
                      <a:endParaRPr lang="zh-CN" sz="2800" b="1">
                        <a:highlight>
                          <a:srgbClr val="FFFF00"/>
                        </a:highlight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be highly valued by ...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attach great importance by...</a:t>
                      </a:r>
                      <a:endParaRPr lang="en-US" altLang="zh-CN" sz="2800"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9340" y="333375"/>
            <a:ext cx="10053320" cy="2159635"/>
          </a:xfrm>
        </p:spPr>
        <p:txBody>
          <a:bodyPr/>
          <a:p>
            <a:pPr algn="ctr">
              <a:lnSpc>
                <a:spcPct val="80000"/>
              </a:lnSpc>
            </a:pPr>
            <a:r>
              <a:rPr lang="en-US" altLang="zh-CN" b="0" kern="0" spc="-100">
                <a:solidFill>
                  <a:schemeClr val="bg1">
                    <a:lumMod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优设标题黑" panose="00000500000000000000" charset="-122"/>
              </a:rPr>
              <a:t>03</a:t>
            </a:r>
            <a:endParaRPr lang="en-US" altLang="zh-CN" b="0" kern="0" spc="-100">
              <a:solidFill>
                <a:schemeClr val="bg1">
                  <a:lumMod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优设标题黑" panose="00000500000000000000" charset="-122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851025" y="2586355"/>
            <a:ext cx="849122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写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作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-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预测题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3</a:t>
            </a:r>
            <a:endParaRPr lang="en-US" altLang="zh-CN" sz="6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275715" y="3961130"/>
            <a:ext cx="9847580" cy="132651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</a:pPr>
            <a:r>
              <a:rPr lang="en-US" altLang="zh-CN" sz="2800" b="1" kern="0" spc="-100">
                <a:solidFill>
                  <a:schemeClr val="bg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  <a:sym typeface="+mn-ea"/>
              </a:rPr>
              <a:t>AI</a:t>
            </a:r>
            <a:r>
              <a:rPr lang="zh-CN" altLang="en-US" sz="2800" b="1" kern="0" spc="-100">
                <a:solidFill>
                  <a:schemeClr val="bg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  <a:sym typeface="+mn-ea"/>
              </a:rPr>
              <a:t>时代，大学生面临的机遇与挑战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Opportunities and Challenges for College Students in the AI Era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23950"/>
            <a:ext cx="11092815" cy="4211955"/>
          </a:xfrm>
        </p:spPr>
        <p:txBody>
          <a:bodyPr>
            <a:normAutofit lnSpcReduction="20000"/>
          </a:bodyPr>
          <a:p>
            <a:pPr marL="0" indent="0" algn="just">
              <a:lnSpc>
                <a:spcPct val="200000"/>
              </a:lnSpc>
              <a:buNone/>
            </a:pPr>
            <a:r>
              <a:rPr lang="en-US" altLang="zh-CN" sz="2800" b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Directions: 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For this part, you are allowed 30 minutes to write an essay on the topic “</a:t>
            </a:r>
            <a:r>
              <a:rPr lang="en-US" altLang="zh-CN" sz="2800" b="1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Opportunities and Challenges for College Students in the AI Era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”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. You should write at least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120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 but no more than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180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words.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800" b="1" i="1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17195" y="991870"/>
          <a:ext cx="11096625" cy="5038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1925"/>
                <a:gridCol w="4584700"/>
              </a:tblGrid>
              <a:tr h="5038090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Stepping into the AI era, contemporary college students are faced with both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unprecedented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opportunities and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severe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practical challenges.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On the one hand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AI has the potential to improve our learning and development. Through machine learning and advanced 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algorithms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AI can search and analyze vast amounts of data, which can significantly improve learning efficiency and accelerate knowledge 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acquisition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. 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步入人工智能（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AI）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时代，当代大学生既迎来了前所未有的发展机遇，也面临着严峻的现实挑战。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一方面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能为我们的学习和发展赋能。依托机器学习与高端算法，人工智能能够检索并分析海量数据，这能大幅提升学习效率，加快知识吸收的速度。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893310" y="1738630"/>
            <a:ext cx="199072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5078730" y="908050"/>
            <a:ext cx="180467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/ʌ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nˈpr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ɪˌ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d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d/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前所未有的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04995" y="3940175"/>
            <a:ext cx="142113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>
            <p:custDataLst>
              <p:tags r:id="rId4"/>
            </p:custDataLst>
          </p:nvPr>
        </p:nvSpPr>
        <p:spPr>
          <a:xfrm>
            <a:off x="4893310" y="3181985"/>
            <a:ext cx="149479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/ˈæ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ɡ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əˌ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ɪðə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算法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20085" y="5537835"/>
            <a:ext cx="141287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>
            <p:custDataLst>
              <p:tags r:id="rId5"/>
            </p:custDataLst>
          </p:nvPr>
        </p:nvSpPr>
        <p:spPr>
          <a:xfrm>
            <a:off x="3220085" y="4716780"/>
            <a:ext cx="167322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/ˌæ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kw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z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ɪʃə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获得，得到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7160" y="2275205"/>
            <a:ext cx="86550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6"/>
            </p:custDataLst>
          </p:nvPr>
        </p:nvSpPr>
        <p:spPr>
          <a:xfrm>
            <a:off x="2587625" y="1444625"/>
            <a:ext cx="130365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ɪə/ </a:t>
            </a:r>
            <a:endParaRPr lang="en-US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严峻的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  <p:bldP spid="7" grpId="1" animBg="1"/>
      <p:bldP spid="8" grpId="0" bldLvl="0" animBg="1"/>
      <p:bldP spid="8" grpId="1" animBg="1"/>
      <p:bldP spid="10" grpId="1" animBg="1"/>
      <p:bldP spid="11" grpId="0" bldLvl="0" animBg="1"/>
      <p:bldP spid="11" grpId="1" animBg="1"/>
      <p:bldP spid="12" grpId="1" animBg="1"/>
      <p:bldP spid="13" grpId="0" bldLvl="0" animBg="1"/>
      <p:bldP spid="1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5795" y="1000760"/>
          <a:ext cx="11052175" cy="540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0965"/>
                <a:gridCol w="4601210"/>
              </a:tblGrid>
              <a:tr h="5401310">
                <a:tc>
                  <a:txBody>
                    <a:bodyPr/>
                    <a:p>
                      <a:pPr indent="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Besides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AI has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given rise to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many new professions and fields,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prompting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us to cultivate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innovative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thinking and actively adapt to a fast-changing society. </a:t>
                      </a: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On the other hand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challenges also exist. Some basic and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repetitive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jobs may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be replaced by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AI, which means we must constantly update our knowledge and improve our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comprehensive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abilities. </a:t>
                      </a:r>
                      <a:r>
                        <a:rPr lang="en-US" altLang="zh-CN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Moreover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over-reliance on AI can weaken our independent thinking and problem-solving abilities, which are essential for our long-term development.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此外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催生了大量新兴行业与就业领域，倒逼我们培养创新思维，主动适应瞬息万变的社会环境。</a:t>
                      </a: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另一方面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，挑战同样存在。部分基础且重复性的工作或将被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取代，这就要求我们持续更新知识储备、全面提升综合素养。</a:t>
                      </a:r>
                      <a:r>
                        <a:rPr lang="zh-CN" altLang="en-US" sz="24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除此之外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，过度依赖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还会削弱我们的独立思考和解决问题的能力，而这些能力恰恰是个人长远发展的关键。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281045" y="1097280"/>
            <a:ext cx="197739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3508375" y="277495"/>
            <a:ext cx="147955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give rise to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引起，导致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1680" y="2052320"/>
            <a:ext cx="136334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>
            <p:custDataLst>
              <p:tags r:id="rId4"/>
            </p:custDataLst>
          </p:nvPr>
        </p:nvSpPr>
        <p:spPr>
          <a:xfrm>
            <a:off x="720090" y="1164590"/>
            <a:ext cx="206565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əˌ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ve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创新的；革新的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58870" y="1601470"/>
            <a:ext cx="141287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>
            <p:custDataLst>
              <p:tags r:id="rId5"/>
            </p:custDataLst>
          </p:nvPr>
        </p:nvSpPr>
        <p:spPr>
          <a:xfrm>
            <a:off x="5361940" y="1525905"/>
            <a:ext cx="1625600" cy="630555"/>
          </a:xfrm>
          <a:prstGeom prst="wedgeRectCallout">
            <a:avLst>
              <a:gd name="adj1" fmla="val -63906"/>
              <a:gd name="adj2" fmla="val -125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/pr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ɒ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mpt/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促使；导致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0090" y="3499485"/>
            <a:ext cx="159194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6"/>
            </p:custDataLst>
          </p:nvPr>
        </p:nvSpPr>
        <p:spPr>
          <a:xfrm>
            <a:off x="732155" y="2620010"/>
            <a:ext cx="185737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be replaced by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被……取代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97020" y="3005455"/>
            <a:ext cx="126619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标注 14"/>
          <p:cNvSpPr/>
          <p:nvPr>
            <p:custDataLst>
              <p:tags r:id="rId7"/>
            </p:custDataLst>
          </p:nvPr>
        </p:nvSpPr>
        <p:spPr>
          <a:xfrm>
            <a:off x="4066540" y="3562350"/>
            <a:ext cx="1450340" cy="630555"/>
          </a:xfrm>
          <a:prstGeom prst="wedgeRectCallout">
            <a:avLst>
              <a:gd name="adj1" fmla="val -18126"/>
              <a:gd name="adj2" fmla="val -61983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p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重复的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25170" y="4459605"/>
            <a:ext cx="197485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标注 18"/>
          <p:cNvSpPr/>
          <p:nvPr>
            <p:custDataLst>
              <p:tags r:id="rId8"/>
            </p:custDataLst>
          </p:nvPr>
        </p:nvSpPr>
        <p:spPr>
          <a:xfrm>
            <a:off x="725170" y="5022850"/>
            <a:ext cx="2127250" cy="630555"/>
          </a:xfrm>
          <a:prstGeom prst="wedgeRectCallout">
            <a:avLst>
              <a:gd name="adj1" fmla="val 2057"/>
              <a:gd name="adj2" fmla="val -6722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/ˌk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ɒ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mpr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ns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v/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综合的，全面的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  <p:bldP spid="2" grpId="1" animBg="1"/>
      <p:bldP spid="5" grpId="0" bldLvl="0" animBg="1"/>
      <p:bldP spid="5" grpId="1" animBg="1"/>
      <p:bldP spid="7" grpId="1" animBg="1"/>
      <p:bldP spid="8" grpId="0" bldLvl="0" animBg="1"/>
      <p:bldP spid="8" grpId="1" animBg="1"/>
      <p:bldP spid="12" grpId="1" animBg="1"/>
      <p:bldP spid="13" grpId="0" bldLvl="0" animBg="1"/>
      <p:bldP spid="13" grpId="1" animBg="1"/>
      <p:bldP spid="14" grpId="1" animBg="1"/>
      <p:bldP spid="15" grpId="0" bldLvl="0" animBg="1"/>
      <p:bldP spid="15" grpId="1" animBg="1"/>
      <p:bldP spid="18" grpId="1" animBg="1"/>
      <p:bldP spid="19" grpId="0" bldLvl="0" animBg="1"/>
      <p:bldP spid="1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02970" y="1166495"/>
          <a:ext cx="1019683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7075"/>
                <a:gridCol w="4389755"/>
              </a:tblGrid>
              <a:tr h="3869690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 conclusion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we should make good use of AI as a learning tool while focusing on improving our own core abilities. Only in this way can we gain a firm foothold in the AI era and achieve our personal value.  </a:t>
                      </a:r>
                      <a:endParaRPr lang="en-US" altLang="zh-CN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800" b="1">
                          <a:solidFill>
                            <a:schemeClr val="accent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总之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，我们既要善用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作为学习和成长的助力，也要注重提升自身核心竞争力。唯有如此，我们才能在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AI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时代站稳脚跟，实现自身价值。</a:t>
                      </a:r>
                      <a:endParaRPr lang="zh-CN" altLang="en-US" sz="28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374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核心词汇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67335" y="1082675"/>
          <a:ext cx="11689080" cy="5132705"/>
        </p:xfrm>
        <a:graphic>
          <a:graphicData uri="http://schemas.openxmlformats.org/drawingml/2006/table">
            <a:tbl>
              <a:tblPr/>
              <a:tblGrid>
                <a:gridCol w="5640070"/>
                <a:gridCol w="6049010"/>
              </a:tblGrid>
              <a:tr h="713740"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be replaced by 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被</a:t>
                      </a:r>
                      <a:r>
                        <a:rPr lang="en-US" altLang="zh-CN" sz="28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……</a:t>
                      </a:r>
                      <a:r>
                        <a:rPr lang="zh-CN" altLang="en-US" sz="28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取代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severe /sɪˈvɪə/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严峻的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4375"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algorithm /</a:t>
                      </a:r>
                      <a:r>
                        <a:rPr lang="en-US" altLang="zh-CN" sz="2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ˈælɡəˌrɪðəm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n.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算法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acquisition /ˌækwɪˈzɪʃən/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获得，得到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3740"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give rise to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引起，导致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prompt /prɒmpt/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促使；导致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80160"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innovative /ˈɪnəˌveɪtɪv/ </a:t>
                      </a:r>
                      <a:endParaRPr lang="en-US" alt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a.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创新的；革新的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repetitive /rɪˈpɛtɪtɪv/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重复的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0690"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unprecedented /ʌnˈprɛsɪˌdɛntɪd/ </a:t>
                      </a:r>
                      <a:endParaRPr lang="en-US" alt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a</a:t>
                      </a:r>
                      <a:r>
                        <a:rPr lang="en-US" altLang="zh-CN" sz="2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. 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前所未有的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comprehensive /ˌkɒmprɪˈhɛnsɪv/ </a:t>
                      </a:r>
                      <a:endParaRPr lang="en-US" alt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  <a:p>
                      <a:pPr marL="0" indent="0" algn="l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综合的，全面的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9340" y="333375"/>
            <a:ext cx="10053320" cy="2159635"/>
          </a:xfrm>
        </p:spPr>
        <p:txBody>
          <a:bodyPr/>
          <a:p>
            <a:pPr algn="ctr">
              <a:lnSpc>
                <a:spcPct val="80000"/>
              </a:lnSpc>
            </a:pPr>
            <a:r>
              <a:rPr lang="en-US" altLang="zh-CN" b="0" kern="0" spc="-100">
                <a:solidFill>
                  <a:schemeClr val="bg1">
                    <a:lumMod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优设标题黑" panose="00000500000000000000" charset="-122"/>
              </a:rPr>
              <a:t>04</a:t>
            </a:r>
            <a:endParaRPr lang="en-US" altLang="zh-CN" b="0" kern="0" spc="-100">
              <a:solidFill>
                <a:schemeClr val="bg1">
                  <a:lumMod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优设标题黑" panose="00000500000000000000" charset="-122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851025" y="2586355"/>
            <a:ext cx="849122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写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 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作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-</a:t>
            </a:r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预测题</a:t>
            </a:r>
            <a:r>
              <a:rPr lang="en-US" altLang="zh-CN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4</a:t>
            </a:r>
            <a:endParaRPr lang="en-US" altLang="zh-CN" sz="6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51510" y="3961130"/>
            <a:ext cx="10837545" cy="132651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rtlCol="0">
            <a:noAutofit/>
          </a:bodyPr>
          <a:p>
            <a:pPr algn="ctr">
              <a:lnSpc>
                <a:spcPct val="120000"/>
              </a:lnSpc>
            </a:pPr>
            <a:r>
              <a:rPr lang="zh-CN" altLang="en-US" sz="2800" b="1" kern="0" spc="-100">
                <a:solidFill>
                  <a:schemeClr val="bg1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Times New Roman" panose="02020603050405020304" charset="0"/>
                <a:sym typeface="+mn-ea"/>
              </a:rPr>
              <a:t>邀请外教老师参加中国传统文化活动</a:t>
            </a:r>
            <a:endParaRPr lang="zh-CN" altLang="en-US" sz="2800" kern="0" spc="-100">
              <a:solidFill>
                <a:schemeClr val="bg1">
                  <a:lumMod val="8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Inviting a Foreign Teacher to a Traditional Chinese Cultural Activity</a:t>
            </a:r>
            <a:endParaRPr lang="zh-CN" altLang="en-US" sz="2800" b="1" kern="0" spc="-100">
              <a:solidFill>
                <a:schemeClr val="bg1"/>
              </a:solidFill>
              <a:uFillTx/>
              <a:latin typeface="华文楷体" panose="02010600040101010101" charset="-122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23950"/>
            <a:ext cx="11092815" cy="4211955"/>
          </a:xfrm>
        </p:spPr>
        <p:txBody>
          <a:bodyPr>
            <a:normAutofit lnSpcReduction="20000"/>
          </a:bodyPr>
          <a:p>
            <a:pPr marL="0" indent="0" algn="just">
              <a:lnSpc>
                <a:spcPct val="200000"/>
              </a:lnSpc>
              <a:buNone/>
            </a:pPr>
            <a:r>
              <a:rPr lang="en-US" altLang="zh-CN" sz="2800" b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Directions: 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Suppose your university is going to hold a traditional Chinese cultural activity. You are now to </a:t>
            </a:r>
            <a:r>
              <a:rPr lang="en-US" altLang="zh-CN" sz="2800" b="1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write a letter to invite your foreign teacher to participate in this event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. You should write at least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120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 but no more than </a:t>
            </a:r>
            <a:r>
              <a:rPr lang="en-US" altLang="zh-CN" sz="2800" i="1" u="sng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180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words.</a:t>
            </a:r>
            <a:r>
              <a:rPr lang="en-US" altLang="zh-CN" sz="2800" i="1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800" b="1" i="1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756920" y="1257935"/>
          <a:ext cx="10407015" cy="3524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300"/>
                <a:gridCol w="3942715"/>
              </a:tblGrid>
              <a:tr h="3524885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Dear Professor Smith,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On behalf of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the Student Union, I am delighted to invite you to a traditional Chinese cultural event, which will take place in the Lecture Hall of the Student Center from 3:00 p.m. to 5:00 p.m. next Friday.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尊敬的史密斯教授：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我谨代表学生会，诚挚邀请您参加一场中国传统文化活动。活动将于下周五下午3点至5点在学生中心报告厅举办。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271905" y="1964055"/>
            <a:ext cx="2053590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3"/>
            </p:custDataLst>
          </p:nvPr>
        </p:nvSpPr>
        <p:spPr>
          <a:xfrm>
            <a:off x="1618615" y="1120775"/>
            <a:ext cx="131191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on behalf of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代表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3" grpId="1" animBg="1"/>
      <p:bldP spid="9" grpId="0" bldLvl="0" animBg="1"/>
      <p:bldP spid="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4040" y="933450"/>
          <a:ext cx="11021060" cy="5487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4005"/>
                <a:gridCol w="4377055"/>
              </a:tblGrid>
              <a:tr h="5487035">
                <a:tc>
                  <a:txBody>
                    <a:bodyPr/>
                    <a:p>
                      <a:pPr indent="45720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Titled “Charming Chinese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Crafts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”, the event includes three hands-on activities: Chinese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calligraphy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paper-cutting, and tea appreciation. Under the guidance of professional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instructors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, you can learn to write Chinese characters with brushes, design unique paper-cut works, and enjoy a classic tea ceremony. We believe this event will offer you a wonderful opportunity to experience Chinese culture up close. More importantly, it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serves as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a great platform for cultural exchange and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mutual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understanding between teachers and students.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本次活动以“魅力中华工艺”为主题，包含三项实践体验项目：书法、剪纸与品茶。在专业老师的带领下，您可以学习用毛笔书写汉字、创作独具特色的剪纸作品并体验传统茶道。我们相信，本次活动能让您近距离感受中华传统文化。更重要的是，本次活动为师生进行文化交流、增进彼此理解搭建了一个很好的平台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641215" y="1031875"/>
            <a:ext cx="88455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>
            <p:custDataLst>
              <p:tags r:id="rId3"/>
            </p:custDataLst>
          </p:nvPr>
        </p:nvSpPr>
        <p:spPr>
          <a:xfrm>
            <a:off x="4546600" y="163195"/>
            <a:ext cx="160464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/kr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ɑː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ft/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工艺；手艺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7545" y="2040890"/>
            <a:ext cx="1450975" cy="42862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>
            <p:custDataLst>
              <p:tags r:id="rId4"/>
            </p:custDataLst>
          </p:nvPr>
        </p:nvSpPr>
        <p:spPr>
          <a:xfrm>
            <a:off x="732790" y="1158875"/>
            <a:ext cx="1195070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/k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əˈ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ɡ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f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ɪ/ </a:t>
            </a:r>
            <a:endParaRPr lang="en-US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书法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51245" y="5365115"/>
            <a:ext cx="1029970" cy="3930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5"/>
            </p:custDataLst>
          </p:nvPr>
        </p:nvSpPr>
        <p:spPr>
          <a:xfrm>
            <a:off x="6324600" y="4483100"/>
            <a:ext cx="1278255" cy="630555"/>
          </a:xfrm>
          <a:prstGeom prst="wedgeRectCallout">
            <a:avLst>
              <a:gd name="adj1" fmla="val 24703"/>
              <a:gd name="adj2" fmla="val 7839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/ˈmju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ː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ʃʊə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相互的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03800" y="2469515"/>
            <a:ext cx="1442085" cy="3930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>
            <p:custDataLst>
              <p:tags r:id="rId6"/>
            </p:custDataLst>
          </p:nvPr>
        </p:nvSpPr>
        <p:spPr>
          <a:xfrm>
            <a:off x="5101590" y="1649730"/>
            <a:ext cx="1344295" cy="630555"/>
          </a:xfrm>
          <a:prstGeom prst="wedgeRectCallout">
            <a:avLst>
              <a:gd name="adj1" fmla="val -29476"/>
              <a:gd name="adj2" fmla="val 78447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/ɪ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nˈstr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ʌ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kt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ə/ </a:t>
            </a:r>
            <a:endParaRPr lang="en-US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指导老师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96790" y="4866640"/>
            <a:ext cx="1299210" cy="3930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>
            <p:custDataLst>
              <p:tags r:id="rId7"/>
            </p:custDataLst>
          </p:nvPr>
        </p:nvSpPr>
        <p:spPr>
          <a:xfrm>
            <a:off x="4641215" y="4074795"/>
            <a:ext cx="1398270" cy="630555"/>
          </a:xfrm>
          <a:prstGeom prst="wedgeRectCallout">
            <a:avLst>
              <a:gd name="adj1" fmla="val 24703"/>
              <a:gd name="adj2" fmla="val 7839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serve as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作为，充当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1" animBg="1"/>
      <p:bldP spid="5" grpId="0" bldLvl="0" animBg="1"/>
      <p:bldP spid="5" grpId="1" animBg="1"/>
      <p:bldP spid="7" grpId="1" animBg="1"/>
      <p:bldP spid="8" grpId="0" bldLvl="0" animBg="1"/>
      <p:bldP spid="8" grpId="1" animBg="1"/>
      <p:bldP spid="12" grpId="1" animBg="1"/>
      <p:bldP spid="13" grpId="0" bldLvl="0" animBg="1"/>
      <p:bldP spid="13" grpId="1" animBg="1"/>
      <p:bldP spid="19" grpId="1" animBg="1"/>
      <p:bldP spid="20" grpId="0" bldLvl="0" animBg="1"/>
      <p:bldP spid="20" grpId="1" animBg="1"/>
      <p:bldP spid="3" grpId="1" animBg="1"/>
      <p:bldP spid="9" grpId="0" bldLvl="0" animBg="1"/>
      <p:bldP spid="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3860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范文与译文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35635" y="1184275"/>
          <a:ext cx="10795000" cy="349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8745"/>
                <a:gridCol w="4326255"/>
              </a:tblGrid>
              <a:tr h="3493135"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Your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presence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 would greatly encourage the participants and make the event more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memorable</a:t>
                      </a: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. Please let us know if you are available. We look forward to your favorable reply.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Yours sincerely,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Li Hua</a:t>
                      </a:r>
                      <a:endPara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457200" algn="just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您的出席将极大鼓舞活动参与者，也能让本次活动更有纪念意义。烦请告知您是否方便出席。期待您的回复。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诚挚的，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indent="457200" algn="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  <a:sym typeface="+mn-ea"/>
                        </a:rPr>
                        <a:t>李华</a:t>
                      </a:r>
                      <a:endParaRPr lang="zh-CN" altLang="en-US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63BE9F"/>
                      </a:solidFill>
                      <a:prstDash val="solid"/>
                    </a:lnL>
                    <a:lnR w="12700" cmpd="sng">
                      <a:solidFill>
                        <a:srgbClr val="63BE9F"/>
                      </a:solidFill>
                      <a:prstDash val="solid"/>
                    </a:lnR>
                    <a:lnT w="12700" cmpd="sng">
                      <a:solidFill>
                        <a:srgbClr val="63BE9F"/>
                      </a:solidFill>
                      <a:prstDash val="solid"/>
                    </a:lnT>
                    <a:lnB w="12700" cmpd="sng">
                      <a:solidFill>
                        <a:srgbClr val="63BE9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944370" y="1401445"/>
            <a:ext cx="1130300" cy="3930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>
            <p:custDataLst>
              <p:tags r:id="rId3"/>
            </p:custDataLst>
          </p:nvPr>
        </p:nvSpPr>
        <p:spPr>
          <a:xfrm>
            <a:off x="1668145" y="574040"/>
            <a:ext cx="1616710" cy="630555"/>
          </a:xfrm>
          <a:prstGeom prst="wedgeRectCallout">
            <a:avLst>
              <a:gd name="adj1" fmla="val 24703"/>
              <a:gd name="adj2" fmla="val 7839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/ˈpr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z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ns/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在场；出席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76240" y="1924685"/>
            <a:ext cx="1470025" cy="393065"/>
          </a:xfrm>
          <a:prstGeom prst="rect">
            <a:avLst/>
          </a:prstGeom>
          <a:solidFill>
            <a:srgbClr val="038F3F">
              <a:alpha val="4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标注 2"/>
          <p:cNvSpPr/>
          <p:nvPr>
            <p:custDataLst>
              <p:tags r:id="rId4"/>
            </p:custDataLst>
          </p:nvPr>
        </p:nvSpPr>
        <p:spPr>
          <a:xfrm>
            <a:off x="5431155" y="1101090"/>
            <a:ext cx="1452245" cy="630555"/>
          </a:xfrm>
          <a:prstGeom prst="wedgeRectCallout">
            <a:avLst>
              <a:gd name="adj1" fmla="val 24703"/>
              <a:gd name="adj2" fmla="val 78398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/ˈm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ɛ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m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b</a:t>
            </a:r>
            <a:r>
              <a:rPr lang="en-US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ə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l/ </a:t>
            </a:r>
            <a:endParaRPr lang="en-US" altLang="zh-CN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en-US" altLang="zh-CN" i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a</a:t>
            </a:r>
            <a:r>
              <a:rPr lang="en-US" altLang="zh-CN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. </a:t>
            </a:r>
            <a:r>
              <a:rPr lang="zh-CN" altLang="en-US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难忘的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12" grpId="1" animBg="1"/>
      <p:bldP spid="13" grpId="0" bldLvl="0" animBg="1"/>
      <p:bldP spid="13" grpId="1" animBg="1"/>
      <p:bldP spid="2" grpId="1" animBg="1"/>
      <p:bldP spid="3" grpId="0" bldLvl="0" animBg="1"/>
      <p:bldP spid="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2374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</a:t>
            </a:r>
            <a:r>
              <a:rPr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核心词汇</a:t>
            </a: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】</a:t>
            </a:r>
            <a:endParaRPr lang="zh-CN" altLang="en-US" sz="28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486410" y="1002030"/>
          <a:ext cx="10835005" cy="5073015"/>
        </p:xfrm>
        <a:graphic>
          <a:graphicData uri="http://schemas.openxmlformats.org/drawingml/2006/table">
            <a:tbl>
              <a:tblPr/>
              <a:tblGrid>
                <a:gridCol w="5521325"/>
                <a:gridCol w="5313680"/>
              </a:tblGrid>
              <a:tr h="1221740"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on behalf of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代表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craft /krɑːft/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n.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工艺；手艺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20470"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calligraphy /kəˈlɪɡrəfɪ/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书法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instructor /ɪnˈstrʌktə/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指导老师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09065"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serve as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作为，充当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mutual /ˈmjuːtʃʊəl/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相互的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21740"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presence /ˈprɛzəns/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n.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在场；出席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5588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memorable /ˈmɛmərəbəl/ </a:t>
                      </a:r>
                      <a:r>
                        <a:rPr lang="en-US" altLang="zh-CN" sz="2800" b="0" i="1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alt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. </a:t>
                      </a:r>
                      <a:r>
                        <a:rPr lang="zh-CN" sz="2800" b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华文楷体" panose="02010600040101010101" charset="-122"/>
                          <a:cs typeface="Times New Roman" panose="02020603050405020304" charset="0"/>
                        </a:rPr>
                        <a:t>难忘的</a:t>
                      </a:r>
                      <a:endParaRPr lang="zh-CN" sz="2800" b="0">
                        <a:solidFill>
                          <a:srgbClr val="000000"/>
                        </a:solidFill>
                        <a:latin typeface="Times New Roman" panose="02020603050405020304" charset="0"/>
                        <a:ea typeface="华文楷体" panose="0201060004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" y="0"/>
            <a:ext cx="12192635" cy="6858000"/>
          </a:xfrm>
          <a:prstGeom prst="rect">
            <a:avLst/>
          </a:prstGeom>
          <a:solidFill>
            <a:srgbClr val="63BE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9340" y="333375"/>
            <a:ext cx="10053320" cy="2159635"/>
          </a:xfrm>
        </p:spPr>
        <p:txBody>
          <a:bodyPr/>
          <a:p>
            <a:pPr algn="ctr">
              <a:lnSpc>
                <a:spcPct val="80000"/>
              </a:lnSpc>
            </a:pPr>
            <a:r>
              <a:rPr lang="en-US" altLang="zh-CN" b="0" kern="0" spc="-100">
                <a:solidFill>
                  <a:schemeClr val="bg1">
                    <a:lumMod val="8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优设标题黑" panose="00000500000000000000" charset="-122"/>
              </a:rPr>
              <a:t>05</a:t>
            </a:r>
            <a:endParaRPr lang="en-US" altLang="zh-CN" b="0" kern="0" spc="-100">
              <a:solidFill>
                <a:schemeClr val="bg1">
                  <a:lumMod val="8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优设标题黑" panose="00000500000000000000" charset="-122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851025" y="2586355"/>
            <a:ext cx="8491220" cy="109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600" b="1" kern="0" spc="-100">
                <a:solidFill>
                  <a:schemeClr val="bg1"/>
                </a:solidFill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四级作文通用模板</a:t>
            </a:r>
            <a:endParaRPr lang="en-US" altLang="zh-CN" sz="6600" b="1" kern="0" spc="-100">
              <a:solidFill>
                <a:schemeClr val="bg1"/>
              </a:solidFill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783590"/>
            <a:ext cx="11314430" cy="5988050"/>
          </a:xfrm>
        </p:spPr>
        <p:txBody>
          <a:bodyPr>
            <a:noAutofit/>
          </a:bodyPr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zh-CN" altLang="en-US" sz="24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第一段：引入话题 + 表明观点</a:t>
            </a:r>
            <a:endParaRPr lang="zh-CN" altLang="en-US" sz="24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There is a growing debate over whether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主题).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Some people believe that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一方观点),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while others argue that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另一方观点).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From my perspective, I side with the former/latter for the following reasons.</a:t>
            </a:r>
            <a:endParaRPr lang="en-US" altLang="zh-CN" sz="24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zh-CN" altLang="en-US" sz="24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第二段：2-3个论点 + 论据</a:t>
            </a:r>
            <a:endParaRPr lang="zh-CN" altLang="en-US" sz="24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First and foremost, it is undeniable that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理由一).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For example,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举例或解释).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This clearly shows that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进一步阐述).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Moreover,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理由二).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Compared with the opposite view,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对比优势).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Without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主题),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we would probably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反面后果).</a:t>
            </a:r>
            <a:endParaRPr lang="zh-CN" altLang="en-US" sz="24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zh-CN" altLang="en-US" sz="24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第三段：总结观点 + 建议或号召</a:t>
            </a:r>
            <a:endParaRPr lang="zh-CN" altLang="en-US" sz="24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5000"/>
              </a:lnSpc>
              <a:spcAft>
                <a:spcPct val="0"/>
              </a:spcAft>
              <a:buNone/>
            </a:pP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 conclusion, although there are valid arguments on both sides, I firmly believe that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重申观点).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It is high time that we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提出行动建议). </a:t>
            </a:r>
            <a:r>
              <a:rPr lang="en-US" altLang="zh-CN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Only in this way can we ________ (</a:t>
            </a:r>
            <a:r>
              <a:rPr lang="zh-CN" altLang="en-US" sz="24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展望未来).</a:t>
            </a:r>
            <a:endParaRPr lang="zh-CN" altLang="en-US" sz="24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170815"/>
            <a:ext cx="7767955" cy="497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【议论文模板】</a:t>
            </a:r>
            <a:r>
              <a:rPr lang="zh-CN" altLang="en-US" sz="2000" b="1"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适用于利弊分析、观点对比、现象讨论等</a:t>
            </a:r>
            <a:endParaRPr lang="zh-CN" altLang="en-US" sz="20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00000"/>
              </a:lnSpc>
            </a:pPr>
            <a:r>
              <a:rPr lang="en-US" altLang="zh-CN" sz="24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   </a:t>
            </a:r>
            <a:endParaRPr lang="zh-CN" altLang="en-US" sz="2400" b="1"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795655"/>
            <a:ext cx="10979150" cy="6031865"/>
          </a:xfrm>
        </p:spPr>
        <p:txBody>
          <a:bodyPr>
            <a:no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2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信头与称呼（顶格书写）</a:t>
            </a:r>
            <a:endParaRPr lang="zh-CN" altLang="en-US" sz="22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Dear Sir or Madam, / Dear [Name],（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根据试题实际情况写）</a:t>
            </a:r>
            <a:endParaRPr lang="zh-CN" altLang="en-US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2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第一段：自我介绍 + 写信目的</a:t>
            </a:r>
            <a:endParaRPr lang="zh-CN" altLang="en-US" sz="22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 am ________ (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身份). </a:t>
            </a: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 am writing to ________ (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目的：</a:t>
            </a: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express my sincere suggestions / extend my gratitude / apply for the position / make a complaint about...).</a:t>
            </a:r>
            <a:endParaRPr lang="en-US" altLang="zh-CN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2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第二段：具体内容（根据信件类型写，此处以建议信为例）</a:t>
            </a:r>
            <a:endParaRPr lang="zh-CN" altLang="en-US" sz="22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To begin with, I would like to suggest that ________ (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第一点). </a:t>
            </a: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Additionally, it would be beneficial if ________ (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第二点). </a:t>
            </a: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For instance, ________ (</a:t>
            </a:r>
            <a:r>
              <a:rPr lang="zh-CN" altLang="en-US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可加简单例子).</a:t>
            </a:r>
            <a:endParaRPr lang="zh-CN" altLang="en-US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2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第三段：期望与礼貌结尾</a:t>
            </a:r>
            <a:endParaRPr lang="zh-CN" altLang="en-US" sz="2200" b="1" spc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 sincerely hope that my suggestions will be taken into consideration. Thank you for your time and attention.</a:t>
            </a:r>
            <a:endParaRPr lang="en-US" altLang="zh-CN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2200" b="1" spc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结尾敬语（右对齐）</a:t>
            </a:r>
            <a:endParaRPr lang="zh-CN" altLang="en-US" sz="2200" b="1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Yours sincerely, / Yours faithfully,</a:t>
            </a:r>
            <a:endParaRPr lang="en-US" altLang="zh-CN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2200" spc="0">
                <a:solidFill>
                  <a:schemeClr val="tx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[Name]</a:t>
            </a:r>
            <a:endParaRPr lang="en-US" altLang="zh-CN" sz="2200" spc="0">
              <a:solidFill>
                <a:schemeClr val="tx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88035" y="170815"/>
            <a:ext cx="101612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00000"/>
              </a:lnSpc>
            </a:pPr>
            <a:r>
              <a:rPr lang="zh-CN" altLang="en-US" sz="2800" b="1"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【应用文模板】</a:t>
            </a:r>
            <a:r>
              <a:rPr lang="zh-CN" altLang="en-US" sz="2400" b="1">
                <a:highlight>
                  <a:srgbClr val="FFFF00"/>
                </a:highlight>
                <a:latin typeface="Times New Roman" panose="02020603050405020304" charset="0"/>
                <a:ea typeface="华文楷体" panose="02010600040101010101" charset="-122"/>
                <a:cs typeface="微软雅黑" panose="020B0503020204020204" charset="-122"/>
                <a:sym typeface="+mn-ea"/>
              </a:rPr>
              <a:t>适用于书信类：建议信、申请信、感谢信、投诉信等</a:t>
            </a:r>
            <a:endParaRPr lang="zh-CN" altLang="en-US" sz="2400" b="1">
              <a:highlight>
                <a:srgbClr val="FFFF00"/>
              </a:highlight>
              <a:latin typeface="Times New Roman" panose="02020603050405020304" charset="0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71.65,&quot;left&quot;:368.75,&quot;top&quot;:143.7,&quot;width&quot;:378.8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71.65,&quot;left&quot;:368.75,&quot;top&quot;:143.7,&quot;width&quot;:378.8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71.65,&quot;left&quot;:368.75,&quot;top&quot;:143.7,&quot;width&quot;:378.8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71.65,&quot;left&quot;:368.75,&quot;top&quot;:143.7,&quot;width&quot;:378.8}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TABLE_ENDDRAG_ORIGIN_RECT" val="849*360"/>
  <p:tag name="TABLE_ENDDRAG_RECT" val="47*83*849*360"/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TABLE_ENDDRAG_ORIGIN_RECT" val="905*431"/>
  <p:tag name="TABLE_ENDDRAG_RECT" val="29*78*905*431"/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TABLE_ENDDRAG_ORIGIN_RECT" val="839*309"/>
  <p:tag name="TABLE_ENDDRAG_RECT" val="32*105*839*309"/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TABLE_ENDDRAG_ORIGIN_RECT" val="656*210"/>
  <p:tag name="TABLE_ENDDRAG_RECT" val="72*98*656*210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TABLE_ENDDRAG_ORIGIN_RECT" val="681*232"/>
  <p:tag name="TABLE_ENDDRAG_RECT" val="47*97*681*232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TABLE_ENDDRAG_ORIGIN_RECT" val="904*448"/>
  <p:tag name="TABLE_ENDDRAG_RECT" val="30*71*904*448"/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TABLE_ENDDRAG_ORIGIN_RECT" val="915*435"/>
  <p:tag name="TABLE_ENDDRAG_RECT" val="21*78*915*435"/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TABLE_ENDDRAG_ORIGIN_RECT" val="887*231"/>
  <p:tag name="TABLE_ENDDRAG_RECT" val="32*78*887*231"/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TABLE_ENDDRAG_ORIGIN_RECT" val="666*214"/>
  <p:tag name="TABLE_ENDDRAG_RECT" val="62*94*666*214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TABLE_ENDDRAG_ORIGIN_RECT" val="683*235"/>
  <p:tag name="TABLE_ENDDRAG_RECT" val="45*83*683*235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TABLE_ENDDRAG_ORIGIN_RECT" val="873*320"/>
  <p:tag name="TABLE_ENDDRAG_RECT" val="32*78*873*320"/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TABLE_ENDDRAG_ORIGIN_RECT" val="887*425"/>
  <p:tag name="TABLE_ENDDRAG_RECT" val="32*78*887*425"/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TABLE_ENDDRAG_ORIGIN_RECT" val="867*304"/>
  <p:tag name="TABLE_ENDDRAG_RECT" val="43*91*867*304"/>
  <p:tag name="KSO_WM_BEAUTIFY_FLAG" val="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TABLE_ENDDRAG_ORIGIN_RECT" val="920*399"/>
  <p:tag name="TABLE_ENDDRAG_RECT" val="21*85*920*399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TABLE_ENDDRAG_ORIGIN_RECT" val="856*277"/>
  <p:tag name="TABLE_ENDDRAG_RECT" val="50*78*856*277"/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TABLE_ENDDRAG_ORIGIN_RECT" val="867*432"/>
  <p:tag name="TABLE_ENDDRAG_RECT" val="45*77*867*432"/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TABLE_ENDDRAG_ORIGIN_RECT" val="850*275"/>
  <p:tag name="TABLE_ENDDRAG_RECT" val="50*78*850*275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TABLE_ENDDRAG_ORIGIN_RECT" val="797*361"/>
  <p:tag name="TABLE_ENDDRAG_RECT" val="93*117*797*361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9.xml><?xml version="1.0" encoding="utf-8"?>
<p:tagLst xmlns:p="http://schemas.openxmlformats.org/presentationml/2006/main">
  <p:tag name="commondata" val="eyJoZGlkIjoiNzUyMDcyY2RiOWI2MzRjZmQxYjMyZmVkMTM1NWM3YT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11428</Words>
  <Application>WPS 演示</Application>
  <PresentationFormat>宽屏</PresentationFormat>
  <Paragraphs>428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Arial</vt:lpstr>
      <vt:lpstr>宋体</vt:lpstr>
      <vt:lpstr>Wingdings</vt:lpstr>
      <vt:lpstr>WPS灵秀黑</vt:lpstr>
      <vt:lpstr>黑体</vt:lpstr>
      <vt:lpstr>Times New Roman</vt:lpstr>
      <vt:lpstr>华文楷体</vt:lpstr>
      <vt:lpstr>Wingdings</vt:lpstr>
      <vt:lpstr>优设标题黑</vt:lpstr>
      <vt:lpstr>微软雅黑</vt:lpstr>
      <vt:lpstr>Arial Unicode MS</vt:lpstr>
      <vt:lpstr>Calibri</vt:lpstr>
      <vt:lpstr>WPS</vt:lpstr>
      <vt:lpstr>大学英语 四级考试</vt:lpstr>
      <vt:lpstr>写作预测题      目录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05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vivian</cp:lastModifiedBy>
  <cp:revision>786</cp:revision>
  <dcterms:created xsi:type="dcterms:W3CDTF">2019-06-19T02:08:00Z</dcterms:created>
  <dcterms:modified xsi:type="dcterms:W3CDTF">2026-05-14T06:59:49Z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EFFD9AADBF9D4F10BFA82C5A16B1FFF4_11</vt:lpwstr>
  </property>
</Properties>
</file>