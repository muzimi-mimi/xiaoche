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Relationship Id="rId5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c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" name="rc3"/>
          <p:cNvSpPr/>
          <p:nvPr/>
        </p:nvSpPr>
        <p:spPr>
          <a:xfrm>
            <a:off x="0" y="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0" y="6738000"/>
            <a:ext cx="12192000" cy="12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5" name="tx5"/>
          <p:cNvSpPr txBox="1"/>
          <p:nvPr/>
        </p:nvSpPr>
        <p:spPr>
          <a:xfrm>
            <a:off x="600000" y="125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52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巨磁阻效应及应用</a:t>
            </a:r>
          </a:p>
        </p:txBody>
      </p:sp>
      <p:sp>
        <p:nvSpPr>
          <p:cNvPr id="6" name="tx6"/>
          <p:cNvSpPr txBox="1"/>
          <p:nvPr/>
        </p:nvSpPr>
        <p:spPr>
          <a:xfrm>
            <a:off x="600000" y="2180000"/>
            <a:ext cx="109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9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GMR 磁阻特性 · 齿轮角位移 · 磁记录与读出 · 两项拓展</a:t>
            </a:r>
          </a:p>
        </p:txBody>
      </p:sp>
      <p:sp>
        <p:nvSpPr>
          <p:cNvPr id="7" name="rc7"/>
          <p:cNvSpPr/>
          <p:nvPr/>
        </p:nvSpPr>
        <p:spPr>
          <a:xfrm>
            <a:off x="600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8" name="tx8"/>
          <p:cNvSpPr txBox="1"/>
          <p:nvPr/>
        </p:nvSpPr>
        <p:spPr>
          <a:xfrm>
            <a:off x="750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① 磁阻特性</a:t>
            </a:r>
          </a:p>
        </p:txBody>
      </p:sp>
      <p:sp>
        <p:nvSpPr>
          <p:cNvPr id="9" name="tx9"/>
          <p:cNvSpPr txBox="1"/>
          <p:nvPr/>
        </p:nvSpPr>
        <p:spPr>
          <a:xfrm>
            <a:off x="720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ΔR/R₀ = 13.93 %</a:t>
            </a:r>
          </a:p>
        </p:txBody>
      </p:sp>
      <p:sp>
        <p:nvSpPr>
          <p:cNvPr id="10" name="rc10"/>
          <p:cNvSpPr/>
          <p:nvPr/>
        </p:nvSpPr>
        <p:spPr>
          <a:xfrm>
            <a:off x="3430666.6666666665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1" name="tx11"/>
          <p:cNvSpPr txBox="1"/>
          <p:nvPr/>
        </p:nvSpPr>
        <p:spPr>
          <a:xfrm>
            <a:off x="3580666.6666666665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② 角位移</a:t>
            </a:r>
          </a:p>
        </p:txBody>
      </p:sp>
      <p:sp>
        <p:nvSpPr>
          <p:cNvPr id="12" name="tx12"/>
          <p:cNvSpPr txBox="1"/>
          <p:nvPr/>
        </p:nvSpPr>
        <p:spPr>
          <a:xfrm>
            <a:off x="3550666.6666666665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T = 24° → 15 齿</a:t>
            </a:r>
          </a:p>
        </p:txBody>
      </p:sp>
      <p:sp>
        <p:nvSpPr>
          <p:cNvPr id="13" name="rc13"/>
          <p:cNvSpPr/>
          <p:nvPr/>
        </p:nvSpPr>
        <p:spPr>
          <a:xfrm>
            <a:off x="6261333.333333333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4" name="tx14"/>
          <p:cNvSpPr txBox="1"/>
          <p:nvPr/>
        </p:nvSpPr>
        <p:spPr>
          <a:xfrm>
            <a:off x="6411333.333333333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③ 磁记录</a:t>
            </a:r>
          </a:p>
        </p:txBody>
      </p:sp>
      <p:sp>
        <p:nvSpPr>
          <p:cNvPr id="15" name="tx15"/>
          <p:cNvSpPr txBox="1"/>
          <p:nvPr/>
        </p:nvSpPr>
        <p:spPr>
          <a:xfrm>
            <a:off x="6381333.333333333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8 位全对</a:t>
            </a:r>
          </a:p>
        </p:txBody>
      </p:sp>
      <p:sp>
        <p:nvSpPr>
          <p:cNvPr id="16" name="rc16"/>
          <p:cNvSpPr/>
          <p:nvPr/>
        </p:nvSpPr>
        <p:spPr>
          <a:xfrm>
            <a:off x="9092000" y="3050000"/>
            <a:ext cx="2500000" cy="10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17" name="tx17"/>
          <p:cNvSpPr txBox="1"/>
          <p:nvPr/>
        </p:nvSpPr>
        <p:spPr>
          <a:xfrm>
            <a:off x="9242000" y="3170000"/>
            <a:ext cx="220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④ 拓展（三选二）</a:t>
            </a:r>
          </a:p>
        </p:txBody>
      </p:sp>
      <p:sp>
        <p:nvSpPr>
          <p:cNvPr id="18" name="tx18"/>
          <p:cNvSpPr txBox="1"/>
          <p:nvPr/>
        </p:nvSpPr>
        <p:spPr>
          <a:xfrm>
            <a:off x="9212000" y="3560000"/>
            <a:ext cx="2260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测电流 + 开关</a:t>
            </a:r>
          </a:p>
        </p:txBody>
      </p:sp>
      <p:sp>
        <p:nvSpPr>
          <p:cNvPr id="19" name="tx19"/>
          <p:cNvSpPr txBox="1"/>
          <p:nvPr/>
        </p:nvSpPr>
        <p:spPr>
          <a:xfrm>
            <a:off x="600000" y="4500000"/>
            <a:ext cx="10992000" cy="9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姓名：              学号：              同组人：</a:t>
            </a:r>
          </a:p>
          <a:p>
            <a:pPr marL="0" indent="0"/>
            <a:r>
              <a:rPr lang="zh-CN" altLang="en-US" sz="150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实验日期：2026 年    月    日          指导教师：</a:t>
            </a:r>
          </a:p>
        </p:txBody>
      </p:sp>
      <p:sp>
        <p:nvSpPr>
          <p:cNvPr id="20" name="tx20"/>
          <p:cNvSpPr txBox="1"/>
          <p:nvPr/>
        </p:nvSpPr>
        <p:spPr>
          <a:xfrm>
            <a:off x="600000" y="5850000"/>
            <a:ext cx="10992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2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汇报时长 2 分钟 · 共 7 页 · 成员互评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c21"/>
          <p:cNvSpPr/>
          <p:nvPr/>
        </p:nvSpPr>
        <p:spPr>
          <a:xfrm>
            <a:off x="600000" y="330000"/>
            <a:ext cx="90000" cy="5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2" name="tx22"/>
          <p:cNvSpPr txBox="1"/>
          <p:nvPr/>
        </p:nvSpPr>
        <p:spPr>
          <a:xfrm>
            <a:off x="800000" y="330000"/>
            <a:ext cx="9592000" cy="5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25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原理：自旋相关散射 → 电阻随磁化取向改变</a:t>
            </a:r>
          </a:p>
        </p:txBody>
      </p:sp>
      <p:sp>
        <p:nvSpPr>
          <p:cNvPr id="23" name="tx23"/>
          <p:cNvSpPr txBox="1"/>
          <p:nvPr/>
        </p:nvSpPr>
        <p:spPr>
          <a:xfrm>
            <a:off x="10292000" y="360000"/>
            <a:ext cx="1300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30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2 / 7</a:t>
            </a:r>
          </a:p>
        </p:txBody>
      </p:sp>
      <p:sp>
        <p:nvSpPr>
          <p:cNvPr id="24" name="rc24"/>
          <p:cNvSpPr/>
          <p:nvPr/>
        </p:nvSpPr>
        <p:spPr>
          <a:xfrm>
            <a:off x="600000" y="900000"/>
            <a:ext cx="10992000" cy="560000"/>
          </a:xfrm>
          <a:prstGeom prst="roundRect">
            <a:avLst>
              <a:gd name="adj" fmla="val 12000"/>
            </a:avLst>
          </a:prstGeom>
          <a:solidFill>
            <a:srgbClr val="F2F5F8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25" name="tx25"/>
          <p:cNvSpPr txBox="1"/>
          <p:nvPr/>
        </p:nvSpPr>
        <p:spPr>
          <a:xfrm>
            <a:off x="860000" y="1030000"/>
            <a:ext cx="10472000" cy="32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一句话结论  </a:t>
            </a:r>
            <a:r>
              <a:rPr lang="zh-CN" altLang="en-US" sz="1500" b="1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GMR 把“磁化相对取向”转成“电阻变化”，因此既能测弱磁场，也能测位置与电流。</a:t>
            </a:r>
          </a:p>
        </p:txBody>
      </p:sp>
      <p:sp>
        <p:nvSpPr>
          <p:cNvPr id="26" name="tx26"/>
          <p:cNvSpPr txBox="1"/>
          <p:nvPr/>
        </p:nvSpPr>
        <p:spPr>
          <a:xfrm>
            <a:off x="600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机理</a:t>
            </a:r>
          </a:p>
        </p:txBody>
      </p:sp>
      <p:sp>
        <p:nvSpPr>
          <p:cNvPr id="27" name="tx27"/>
          <p:cNvSpPr txBox="1"/>
          <p:nvPr/>
        </p:nvSpPr>
        <p:spPr>
          <a:xfrm>
            <a:off x="600000" y="2240000"/>
            <a:ext cx="5296000" cy="26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1988 年 Baibich 在 Fe/Cr 多层膜中发现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铁磁层中 3d 电子被自旋极化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∥ 磁化 → 散射弱、自由程长（低阻通道）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自旋 ⊥ 磁化 → 散射强（高阻通道）</a:t>
            </a:r>
          </a:p>
          <a:p>
            <a:pPr marL="0" indent="0"/>
            <a:r>
              <a:rPr lang="zh-CN" altLang="en-US" sz="1450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磁化平行＝低阻，反平行＝高阻；外场驱动转向</a:t>
            </a:r>
          </a:p>
          <a:p>
            <a:pPr marL="0" indent="0"/>
            <a:r>
              <a:rPr lang="zh-CN" altLang="en-US" sz="1450" dirty="0">
                <a:solidFill>
                  <a:srgbClr val="C8322B"/>
                </a:solidFill>
                <a:latin typeface="Microsoft YaHei"/>
                <a:ea typeface="微软雅黑"/>
                <a:cs typeface="微软雅黑"/>
              </a:rPr>
              <a:t>· </a:t>
            </a:r>
            <a:r>
              <a:rPr lang="zh-CN" altLang="en-US" sz="1450" dirty="0">
                <a:solidFill>
                  <a:srgbClr val="262626"/>
                </a:solidFill>
                <a:latin typeface="Microsoft YaHei"/>
                <a:ea typeface="微软雅黑"/>
                <a:cs typeface="微软雅黑"/>
              </a:rPr>
              <a:t>对比：AMR 仅 2~5 %，GMR 达百分之几十</a:t>
            </a:r>
          </a:p>
        </p:txBody>
      </p:sp>
      <p:sp>
        <p:nvSpPr>
          <p:cNvPr id="28" name="rc28"/>
          <p:cNvSpPr/>
          <p:nvPr/>
        </p:nvSpPr>
        <p:spPr>
          <a:xfrm>
            <a:off x="600000" y="4910000"/>
            <a:ext cx="5296000" cy="620000"/>
          </a:xfrm>
          <a:prstGeom prst="roundRect">
            <a:avLst>
              <a:gd name="adj" fmla="val 12000"/>
            </a:avLst>
          </a:prstGeom>
          <a:solidFill>
            <a:srgbClr val="FFF6F5"/>
          </a:solidFill>
          <a:ln w="12700">
            <a:solidFill>
              <a:srgbClr val="E8C4C1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29" name="tx29"/>
          <p:cNvSpPr txBox="1"/>
          <p:nvPr/>
        </p:nvSpPr>
        <p:spPr>
          <a:xfrm>
            <a:off x="800000" y="5080000"/>
            <a:ext cx="4896000" cy="35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500" b="1" dirty="0">
                <a:solidFill>
                  <a:srgbClr val="C8322B"/>
                </a:solidFill>
                <a:latin typeface="Consolas"/>
                <a:ea typeface="Consolas"/>
                <a:cs typeface="Consolas"/>
              </a:rPr>
              <a:t>ΔR/R₀ = [R(B) − R(0)] / R(0) × 100 %</a:t>
            </a:r>
          </a:p>
        </p:txBody>
      </p:sp>
      <p:sp>
        <p:nvSpPr>
          <p:cNvPr id="30" name="tx30"/>
          <p:cNvSpPr txBox="1"/>
          <p:nvPr/>
        </p:nvSpPr>
        <p:spPr>
          <a:xfrm>
            <a:off x="6296000" y="1740000"/>
            <a:ext cx="5296000" cy="4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700" b="1" dirty="0">
                <a:solidFill>
                  <a:srgbClr val="1F4E79"/>
                </a:solidFill>
                <a:latin typeface="Microsoft YaHei"/>
                <a:ea typeface="微软雅黑"/>
                <a:cs typeface="微软雅黑"/>
              </a:rPr>
              <a:t>三种用法与本次对应任务</a:t>
            </a:r>
          </a:p>
        </p:txBody>
      </p:sp>
      <p:sp>
        <p:nvSpPr>
          <p:cNvPr id="31" name="rc31"/>
          <p:cNvSpPr/>
          <p:nvPr/>
        </p:nvSpPr>
        <p:spPr>
          <a:xfrm>
            <a:off x="6296000" y="22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2" name="rc32"/>
          <p:cNvSpPr/>
          <p:nvPr/>
        </p:nvSpPr>
        <p:spPr>
          <a:xfrm>
            <a:off x="6296000" y="2240000"/>
            <a:ext cx="70000" cy="70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" name="tx33"/>
          <p:cNvSpPr txBox="1"/>
          <p:nvPr/>
        </p:nvSpPr>
        <p:spPr>
          <a:xfrm>
            <a:off x="6496000" y="23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1F6FB2"/>
                </a:solidFill>
                <a:latin typeface="Microsoft YaHei"/>
                <a:ea typeface="微软雅黑"/>
                <a:cs typeface="微软雅黑"/>
              </a:rPr>
              <a:t>梯度（差分）模式</a:t>
            </a:r>
          </a:p>
        </p:txBody>
      </p:sp>
      <p:sp>
        <p:nvSpPr>
          <p:cNvPr id="34" name="tx34"/>
          <p:cNvSpPr txBox="1"/>
          <p:nvPr/>
        </p:nvSpPr>
        <p:spPr>
          <a:xfrm>
            <a:off x="6496000" y="26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两元件电阻反向变化，抑制均匀杂散场   →   任务② 齿轮角位移</a:t>
            </a:r>
          </a:p>
        </p:txBody>
      </p:sp>
      <p:sp>
        <p:nvSpPr>
          <p:cNvPr id="35" name="rc35"/>
          <p:cNvSpPr/>
          <p:nvPr/>
        </p:nvSpPr>
        <p:spPr>
          <a:xfrm>
            <a:off x="6296000" y="30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36" name="rc36"/>
          <p:cNvSpPr/>
          <p:nvPr/>
        </p:nvSpPr>
        <p:spPr>
          <a:xfrm>
            <a:off x="6296000" y="3040000"/>
            <a:ext cx="70000" cy="700000"/>
          </a:xfrm>
          <a:prstGeom prst="rect">
            <a:avLst/>
          </a:prstGeom>
          <a:solidFill>
            <a:srgbClr val="7B4EA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7" name="tx37"/>
          <p:cNvSpPr txBox="1"/>
          <p:nvPr/>
        </p:nvSpPr>
        <p:spPr>
          <a:xfrm>
            <a:off x="6496000" y="31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7B4EA0"/>
                </a:solidFill>
                <a:latin typeface="Microsoft YaHei"/>
                <a:ea typeface="微软雅黑"/>
                <a:cs typeface="微软雅黑"/>
              </a:rPr>
              <a:t>开关模式</a:t>
            </a:r>
          </a:p>
        </p:txBody>
      </p:sp>
      <p:sp>
        <p:nvSpPr>
          <p:cNvPr id="38" name="tx38"/>
          <p:cNvSpPr txBox="1"/>
          <p:nvPr/>
        </p:nvSpPr>
        <p:spPr>
          <a:xfrm>
            <a:off x="6496000" y="34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内置迟滞，输出仅高/低电平，抗抖动   →   拓展② 磁电转换特性</a:t>
            </a:r>
          </a:p>
        </p:txBody>
      </p:sp>
      <p:sp>
        <p:nvSpPr>
          <p:cNvPr id="39" name="rc39"/>
          <p:cNvSpPr/>
          <p:nvPr/>
        </p:nvSpPr>
        <p:spPr>
          <a:xfrm>
            <a:off x="6296000" y="38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0" name="rc40"/>
          <p:cNvSpPr/>
          <p:nvPr/>
        </p:nvSpPr>
        <p:spPr>
          <a:xfrm>
            <a:off x="6296000" y="3840000"/>
            <a:ext cx="70000" cy="7000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1" name="tx41"/>
          <p:cNvSpPr txBox="1"/>
          <p:nvPr/>
        </p:nvSpPr>
        <p:spPr>
          <a:xfrm>
            <a:off x="6496000" y="39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2E8B57"/>
                </a:solidFill>
                <a:latin typeface="Microsoft YaHei"/>
                <a:ea typeface="微软雅黑"/>
                <a:cs typeface="微软雅黑"/>
              </a:rPr>
              <a:t>磁记录与读出</a:t>
            </a:r>
          </a:p>
        </p:txBody>
      </p:sp>
      <p:sp>
        <p:nvSpPr>
          <p:cNvPr id="42" name="tx42"/>
          <p:cNvSpPr txBox="1"/>
          <p:nvPr/>
        </p:nvSpPr>
        <p:spPr>
          <a:xfrm>
            <a:off x="6496000" y="42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读头感应磁卡局部杂散场 → 电平   →   任务③ 8 位写入读出</a:t>
            </a:r>
          </a:p>
        </p:txBody>
      </p:sp>
      <p:sp>
        <p:nvSpPr>
          <p:cNvPr id="43" name="rc43"/>
          <p:cNvSpPr/>
          <p:nvPr/>
        </p:nvSpPr>
        <p:spPr>
          <a:xfrm>
            <a:off x="6296000" y="4640000"/>
            <a:ext cx="5296000" cy="7000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DCE3EA"/>
            </a:solidFill>
          </a:ln>
        </p:spPr>
        <p:txBody>
          <a:bodyPr/>
          <a:lstStyle/>
          <a:p>
            <a:endParaRPr lang="zh-CN"/>
          </a:p>
        </p:txBody>
      </p:sp>
      <p:sp>
        <p:nvSpPr>
          <p:cNvPr id="44" name="rc44"/>
          <p:cNvSpPr/>
          <p:nvPr/>
        </p:nvSpPr>
        <p:spPr>
          <a:xfrm>
            <a:off x="6296000" y="4640000"/>
            <a:ext cx="70000" cy="70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5" name="tx45"/>
          <p:cNvSpPr txBox="1"/>
          <p:nvPr/>
        </p:nvSpPr>
        <p:spPr>
          <a:xfrm>
            <a:off x="6496000" y="4730000"/>
            <a:ext cx="4996000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400" b="1" dirty="0">
                <a:solidFill>
                  <a:srgbClr val="D97706"/>
                </a:solidFill>
                <a:latin typeface="Microsoft YaHei"/>
                <a:ea typeface="微软雅黑"/>
                <a:cs typeface="微软雅黑"/>
              </a:rPr>
              <a:t>模拟线性输出</a:t>
            </a:r>
          </a:p>
        </p:txBody>
      </p:sp>
      <p:sp>
        <p:nvSpPr>
          <p:cNvPr id="46" name="tx46"/>
          <p:cNvSpPr txBox="1"/>
          <p:nvPr/>
        </p:nvSpPr>
        <p:spPr>
          <a:xfrm>
            <a:off x="6496000" y="5030000"/>
            <a:ext cx="4996000" cy="28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/>
            <a:r>
              <a:rPr lang="zh-CN" altLang="en-US" sz="1150" dirty="0">
                <a:solidFill>
                  <a:srgbClr val="666666"/>
                </a:solidFill>
                <a:latin typeface="Microsoft YaHei"/>
                <a:ea typeface="微软雅黑"/>
                <a:cs typeface="微软雅黑"/>
              </a:rPr>
              <a:t>偏置磁场决定灵敏度与线性度   →   拓展① 测量电流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Qoder</Application>
  <Slides>2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巨磁阻效应及应用 答辩汇报</dc:title>
  <dc:subject>2 分钟汇报</dc:subject>
  <dc:language>zh-CN</dc:language>
  <dcterms:created xsi:type="dcterms:W3CDTF">2026-10-23T00:00:00Z</dcterms:created>
</cp:coreProperties>
</file>