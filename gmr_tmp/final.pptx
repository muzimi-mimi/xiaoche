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062D4-9850-4B17-A502-F3386983451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732E-07A0-4380-A6B3-AB0A046BF6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943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/>
              <a:t>【</a:t>
            </a:r>
            <a:r>
              <a:rPr lang="zh-CN" altLang="en-US" sz="1100"/>
              <a:t>数据</a:t>
            </a:r>
            <a:r>
              <a:rPr lang="en-US" altLang="zh-CN" sz="1100"/>
              <a:t>】  </a:t>
            </a:r>
            <a:r>
              <a:rPr lang="zh-CN" altLang="en-US" sz="1100"/>
              <a:t>完成 </a:t>
            </a:r>
            <a:r>
              <a:rPr lang="en-US" altLang="zh-CN" sz="1100"/>
              <a:t>4 </a:t>
            </a:r>
            <a:r>
              <a:rPr lang="zh-CN" altLang="en-US" sz="1100"/>
              <a:t>项测量：磁阻特性（</a:t>
            </a:r>
            <a:r>
              <a:rPr lang="en-US" altLang="zh-CN" sz="1100"/>
              <a:t>±100 mA </a:t>
            </a:r>
            <a:r>
              <a:rPr lang="zh-CN" altLang="en-US" sz="1100"/>
              <a:t>四段扫描 </a:t>
            </a:r>
            <a:r>
              <a:rPr lang="en-US" altLang="zh-CN" sz="1100"/>
              <a:t>43 </a:t>
            </a:r>
            <a:r>
              <a:rPr lang="zh-CN" altLang="en-US" sz="1100"/>
              <a:t>点）、角位移（</a:t>
            </a:r>
            <a:r>
              <a:rPr lang="en-US" altLang="zh-CN" sz="1100"/>
              <a:t>0~48° </a:t>
            </a:r>
            <a:r>
              <a:rPr lang="zh-CN" altLang="en-US" sz="1100"/>
              <a:t>共 </a:t>
            </a:r>
            <a:r>
              <a:rPr lang="en-US" altLang="zh-CN" sz="1100"/>
              <a:t>17 </a:t>
            </a:r>
            <a:r>
              <a:rPr lang="zh-CN" altLang="en-US" sz="1100"/>
              <a:t>点）、磁记录（</a:t>
            </a:r>
            <a:r>
              <a:rPr lang="en-US" altLang="zh-CN" sz="1100"/>
              <a:t>8 </a:t>
            </a:r>
            <a:r>
              <a:rPr lang="zh-CN" altLang="en-US" sz="1100"/>
              <a:t>区域）、拓展两项（测电流 </a:t>
            </a:r>
            <a:r>
              <a:rPr lang="en-US" altLang="zh-CN" sz="1100"/>
              <a:t>±300 mA </a:t>
            </a:r>
            <a:r>
              <a:rPr lang="zh-CN" altLang="en-US" sz="1100"/>
              <a:t>两行 </a:t>
            </a:r>
            <a:r>
              <a:rPr lang="en-US" altLang="zh-CN" sz="1100"/>
              <a:t>7 </a:t>
            </a:r>
            <a:r>
              <a:rPr lang="zh-CN" altLang="en-US" sz="1100"/>
              <a:t>点、开关四段 </a:t>
            </a:r>
            <a:r>
              <a:rPr lang="en-US" altLang="zh-CN" sz="1100"/>
              <a:t>4 </a:t>
            </a:r>
            <a:r>
              <a:rPr lang="zh-CN" altLang="en-US" sz="1100"/>
              <a:t>个阈值）。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现象</a:t>
            </a:r>
            <a:r>
              <a:rPr lang="en-US" altLang="zh-CN" sz="1100"/>
              <a:t>】  </a:t>
            </a:r>
            <a:r>
              <a:rPr lang="zh-CN" altLang="en-US" sz="1100"/>
              <a:t>全部数值取自实验记录表已填写的单元格；表中 </a:t>
            </a:r>
            <a:r>
              <a:rPr lang="en-US" altLang="zh-CN" sz="1100"/>
              <a:t>B</a:t>
            </a:r>
            <a:r>
              <a:rPr lang="zh-CN" altLang="en-US" sz="1100"/>
              <a:t>、</a:t>
            </a:r>
            <a:r>
              <a:rPr lang="en-US" altLang="zh-CN" sz="1100"/>
              <a:t>U</a:t>
            </a:r>
            <a:r>
              <a:rPr lang="zh-CN" altLang="en-US" sz="1100"/>
              <a:t>、</a:t>
            </a:r>
            <a:r>
              <a:rPr lang="en-US" altLang="zh-CN" sz="1100"/>
              <a:t>R </a:t>
            </a:r>
            <a:r>
              <a:rPr lang="zh-CN" altLang="en-US" sz="1100"/>
              <a:t>三列空白，未作推算。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结论</a:t>
            </a:r>
            <a:r>
              <a:rPr lang="en-US" altLang="zh-CN" sz="1100"/>
              <a:t>】  </a:t>
            </a:r>
            <a:r>
              <a:rPr lang="zh-CN" altLang="en-US" sz="1100"/>
              <a:t>四项任务均取得可用数据，下面逐项报告。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732E-07A0-4380-A6B3-AB0A046BF69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171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/>
              <a:t>【</a:t>
            </a:r>
            <a:r>
              <a:rPr lang="zh-CN" altLang="en-US" sz="1100"/>
              <a:t>数据</a:t>
            </a:r>
            <a:r>
              <a:rPr lang="en-US" altLang="zh-CN" sz="1100"/>
              <a:t>】  </a:t>
            </a:r>
            <a:r>
              <a:rPr lang="zh-CN" altLang="en-US" sz="1100"/>
              <a:t>理论预期：磁化由反平行转为平行时电阻下降，</a:t>
            </a:r>
            <a:r>
              <a:rPr lang="en-US" altLang="zh-CN" sz="1100"/>
              <a:t>ΔR/R₀ </a:t>
            </a:r>
            <a:r>
              <a:rPr lang="zh-CN" altLang="en-US" sz="1100"/>
              <a:t>可达百分之几十；坡莫合金 </a:t>
            </a:r>
            <a:r>
              <a:rPr lang="en-US" altLang="zh-CN" sz="1100"/>
              <a:t>AMR </a:t>
            </a:r>
            <a:r>
              <a:rPr lang="zh-CN" altLang="en-US" sz="1100"/>
              <a:t>仅 </a:t>
            </a:r>
            <a:r>
              <a:rPr lang="en-US" altLang="zh-CN" sz="1100"/>
              <a:t>2~5 %</a:t>
            </a:r>
            <a:r>
              <a:rPr lang="zh-CN" altLang="en-US" sz="1100"/>
              <a:t>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现象</a:t>
            </a:r>
            <a:r>
              <a:rPr lang="en-US" altLang="zh-CN" sz="1100"/>
              <a:t>】  </a:t>
            </a:r>
            <a:r>
              <a:rPr lang="zh-CN" altLang="en-US" sz="1100"/>
              <a:t>由此应能观测到三件事：① 电阻随磁场单调上升后趋于饱和；② 梯度结构在齿轮上输出周期信号；③ 开关结构输出带回差的方波。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结论</a:t>
            </a:r>
            <a:r>
              <a:rPr lang="en-US" altLang="zh-CN" sz="1100"/>
              <a:t>】  </a:t>
            </a:r>
            <a:r>
              <a:rPr lang="zh-CN" altLang="en-US" sz="1100"/>
              <a:t>本次三件事全部被数据证实（见后四页），且实测 </a:t>
            </a:r>
            <a:r>
              <a:rPr lang="en-US" altLang="zh-CN" sz="1100"/>
              <a:t>ΔR/R₀ = 13.93 % </a:t>
            </a:r>
            <a:r>
              <a:rPr lang="zh-CN" altLang="en-US" sz="1100"/>
              <a:t>落在 </a:t>
            </a:r>
            <a:r>
              <a:rPr lang="en-US" altLang="zh-CN" sz="1100"/>
              <a:t>GMR </a:t>
            </a:r>
            <a:r>
              <a:rPr lang="zh-CN" altLang="en-US" sz="1100"/>
              <a:t>量级、明显高于 </a:t>
            </a:r>
            <a:r>
              <a:rPr lang="en-US" altLang="zh-CN" sz="1100"/>
              <a:t>AMR</a:t>
            </a:r>
            <a:r>
              <a:rPr lang="zh-CN" altLang="en-US" sz="110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732E-07A0-4380-A6B3-AB0A046BF69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999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/>
              <a:t>【</a:t>
            </a:r>
            <a:r>
              <a:rPr lang="zh-CN" altLang="en-US" sz="1100"/>
              <a:t>数据</a:t>
            </a:r>
            <a:r>
              <a:rPr lang="en-US" altLang="zh-CN" sz="1100"/>
              <a:t>】  </a:t>
            </a:r>
            <a:r>
              <a:rPr lang="zh-CN" altLang="en-US" sz="1100"/>
              <a:t>零磁场读数 </a:t>
            </a:r>
            <a:r>
              <a:rPr lang="en-US" altLang="zh-CN" sz="1100"/>
              <a:t>X₀ = 1.594</a:t>
            </a:r>
            <a:r>
              <a:rPr lang="zh-CN" altLang="en-US" sz="1100"/>
              <a:t>（下降段）</a:t>
            </a:r>
            <a:r>
              <a:rPr lang="en-US" altLang="zh-CN" sz="1100"/>
              <a:t>/ 1.596</a:t>
            </a:r>
            <a:r>
              <a:rPr lang="zh-CN" altLang="en-US" sz="1100"/>
              <a:t>（上升段）；</a:t>
            </a:r>
            <a:r>
              <a:rPr lang="en-US" altLang="zh-CN" sz="1100"/>
              <a:t>+100 mA </a:t>
            </a:r>
            <a:r>
              <a:rPr lang="zh-CN" altLang="en-US" sz="1100"/>
              <a:t>处 </a:t>
            </a:r>
            <a:r>
              <a:rPr lang="en-US" altLang="zh-CN" sz="1100"/>
              <a:t>1.816</a:t>
            </a:r>
            <a:r>
              <a:rPr lang="zh-CN" altLang="en-US" sz="1100"/>
              <a:t>，−</a:t>
            </a:r>
            <a:r>
              <a:rPr lang="en-US" altLang="zh-CN" sz="1100"/>
              <a:t>100 mA </a:t>
            </a:r>
            <a:r>
              <a:rPr lang="zh-CN" altLang="en-US" sz="1100"/>
              <a:t>处 </a:t>
            </a:r>
            <a:r>
              <a:rPr lang="en-US" altLang="zh-CN" sz="1100"/>
              <a:t>1.813</a:t>
            </a:r>
            <a:r>
              <a:rPr lang="zh-CN" altLang="en-US" sz="1100"/>
              <a:t>。</a:t>
            </a:r>
            <a:r>
              <a:rPr lang="en-US" altLang="zh-CN" sz="1100"/>
              <a:t>0→30 mA </a:t>
            </a:r>
            <a:r>
              <a:rPr lang="zh-CN" altLang="en-US" sz="1100"/>
              <a:t>平均变化率 </a:t>
            </a:r>
            <a:r>
              <a:rPr lang="en-US" altLang="zh-CN" sz="1100"/>
              <a:t>3.50×10⁻³/mA</a:t>
            </a:r>
            <a:r>
              <a:rPr lang="zh-CN" altLang="en-US" sz="1100"/>
              <a:t>，</a:t>
            </a:r>
            <a:r>
              <a:rPr lang="en-US" altLang="zh-CN" sz="1100"/>
              <a:t>70→100 mA </a:t>
            </a:r>
            <a:r>
              <a:rPr lang="zh-CN" altLang="en-US" sz="1100"/>
              <a:t>仅 </a:t>
            </a:r>
            <a:r>
              <a:rPr lang="en-US" altLang="zh-CN" sz="1100"/>
              <a:t>1.0×10⁻⁴/mA</a:t>
            </a:r>
            <a:r>
              <a:rPr lang="zh-CN" altLang="en-US" sz="1100"/>
              <a:t>。同 </a:t>
            </a:r>
            <a:r>
              <a:rPr lang="en-US" altLang="zh-CN" sz="1100"/>
              <a:t>|I| </a:t>
            </a:r>
            <a:r>
              <a:rPr lang="zh-CN" altLang="en-US" sz="1100"/>
              <a:t>处下降段与上升段最大偏差 </a:t>
            </a:r>
            <a:r>
              <a:rPr lang="en-US" altLang="zh-CN" sz="1100"/>
              <a:t>0.023</a:t>
            </a:r>
            <a:r>
              <a:rPr lang="zh-CN" altLang="en-US" sz="1100"/>
              <a:t>（在 </a:t>
            </a:r>
            <a:r>
              <a:rPr lang="en-US" altLang="zh-CN" sz="1100"/>
              <a:t>50 mA</a:t>
            </a:r>
            <a:r>
              <a:rPr lang="zh-CN" altLang="en-US" sz="1100"/>
              <a:t>）。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现象</a:t>
            </a:r>
            <a:r>
              <a:rPr lang="en-US" altLang="zh-CN" sz="1100"/>
              <a:t>】  ① </a:t>
            </a:r>
            <a:r>
              <a:rPr lang="zh-CN" altLang="en-US" sz="1100"/>
              <a:t>响应量随 </a:t>
            </a:r>
            <a:r>
              <a:rPr lang="en-US" altLang="zh-CN" sz="1100"/>
              <a:t>|I| </a:t>
            </a:r>
            <a:r>
              <a:rPr lang="zh-CN" altLang="en-US" sz="1100"/>
              <a:t>单调增大，低场陡、高场平；② 高场斜率比低场小约 </a:t>
            </a:r>
            <a:r>
              <a:rPr lang="en-US" altLang="zh-CN" sz="1100"/>
              <a:t>35 </a:t>
            </a:r>
            <a:r>
              <a:rPr lang="zh-CN" altLang="en-US" sz="1100"/>
              <a:t>倍；③ 磁滞偏差集中在曲线最陡的中场区（</a:t>
            </a:r>
            <a:r>
              <a:rPr lang="en-US" altLang="zh-CN" sz="1100"/>
              <a:t>30~60 mA</a:t>
            </a:r>
            <a:r>
              <a:rPr lang="zh-CN" altLang="en-US" sz="1100"/>
              <a:t>），在低场与饱和区都明显变小；④ 正负两侧最大值仅差 </a:t>
            </a:r>
            <a:r>
              <a:rPr lang="en-US" altLang="zh-CN" sz="1100"/>
              <a:t>0.003</a:t>
            </a:r>
            <a:r>
              <a:rPr lang="zh-CN" altLang="en-US" sz="1100"/>
              <a:t>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结论</a:t>
            </a:r>
            <a:r>
              <a:rPr lang="en-US" altLang="zh-CN" sz="1100"/>
              <a:t>】  ΔR/R₀ = 13.93 %</a:t>
            </a:r>
            <a:r>
              <a:rPr lang="zh-CN" altLang="en-US" sz="1100"/>
              <a:t>，半饱和 </a:t>
            </a:r>
            <a:r>
              <a:rPr lang="en-US" altLang="zh-CN" sz="1100"/>
              <a:t>I½ = 31.4 mA</a:t>
            </a:r>
            <a:r>
              <a:rPr lang="zh-CN" altLang="en-US" sz="1100"/>
              <a:t>，</a:t>
            </a:r>
            <a:r>
              <a:rPr lang="en-US" altLang="zh-CN" sz="1100"/>
              <a:t>|I| &gt; 70 mA </a:t>
            </a:r>
            <a:r>
              <a:rPr lang="zh-CN" altLang="en-US" sz="1100"/>
              <a:t>进入饱和。偏差的分布特征说明它主要来自励磁电流</a:t>
            </a:r>
            <a:r>
              <a:rPr lang="en-US" altLang="zh-CN" sz="1100"/>
              <a:t>—</a:t>
            </a:r>
            <a:r>
              <a:rPr lang="zh-CN" altLang="en-US" sz="1100"/>
              <a:t>磁场标定的路径不重复被陡峭的 </a:t>
            </a:r>
            <a:r>
              <a:rPr lang="en-US" altLang="zh-CN" sz="1100"/>
              <a:t>dX/dI </a:t>
            </a:r>
            <a:r>
              <a:rPr lang="zh-CN" altLang="en-US" sz="1100"/>
              <a:t>放大，而不是 </a:t>
            </a:r>
            <a:r>
              <a:rPr lang="en-US" altLang="zh-CN" sz="1100"/>
              <a:t>GMR </a:t>
            </a:r>
            <a:r>
              <a:rPr lang="zh-CN" altLang="en-US" sz="1100"/>
              <a:t>材料本身的大磁滞；左右磁路对称性良好（</a:t>
            </a:r>
            <a:r>
              <a:rPr lang="en-US" altLang="zh-CN" sz="1100"/>
              <a:t>0.13 %</a:t>
            </a:r>
            <a:r>
              <a:rPr lang="zh-CN" altLang="en-US" sz="1100"/>
              <a:t>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732E-07A0-4380-A6B3-AB0A046BF69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050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/>
              <a:t>【</a:t>
            </a:r>
            <a:r>
              <a:rPr lang="zh-CN" altLang="en-US" sz="1100"/>
              <a:t>数据</a:t>
            </a:r>
            <a:r>
              <a:rPr lang="en-US" altLang="zh-CN" sz="1100"/>
              <a:t>】  θ = 0~48°</a:t>
            </a:r>
            <a:r>
              <a:rPr lang="zh-CN" altLang="en-US" sz="1100"/>
              <a:t>、步长 </a:t>
            </a:r>
            <a:r>
              <a:rPr lang="en-US" altLang="zh-CN" sz="1100"/>
              <a:t>3°</a:t>
            </a:r>
            <a:r>
              <a:rPr lang="zh-CN" altLang="en-US" sz="1100"/>
              <a:t>、共 </a:t>
            </a:r>
            <a:r>
              <a:rPr lang="en-US" altLang="zh-CN" sz="1100"/>
              <a:t>17 </a:t>
            </a:r>
            <a:r>
              <a:rPr lang="zh-CN" altLang="en-US" sz="1100"/>
              <a:t>点。四个极值：</a:t>
            </a:r>
            <a:r>
              <a:rPr lang="en-US" altLang="zh-CN" sz="1100"/>
              <a:t>6°→57.3</a:t>
            </a:r>
            <a:r>
              <a:rPr lang="zh-CN" altLang="en-US" sz="1100"/>
              <a:t>、</a:t>
            </a:r>
            <a:r>
              <a:rPr lang="en-US" altLang="zh-CN" sz="1100"/>
              <a:t>18°→−56.5</a:t>
            </a:r>
            <a:r>
              <a:rPr lang="zh-CN" altLang="en-US" sz="1100"/>
              <a:t>、</a:t>
            </a:r>
            <a:r>
              <a:rPr lang="en-US" altLang="zh-CN" sz="1100"/>
              <a:t>30°→57.2</a:t>
            </a:r>
            <a:r>
              <a:rPr lang="zh-CN" altLang="en-US" sz="1100"/>
              <a:t>、</a:t>
            </a:r>
            <a:r>
              <a:rPr lang="en-US" altLang="zh-CN" sz="1100"/>
              <a:t>42°→−55.4 mV</a:t>
            </a:r>
            <a:r>
              <a:rPr lang="zh-CN" altLang="en-US" sz="1100"/>
              <a:t>。固定 </a:t>
            </a:r>
            <a:r>
              <a:rPr lang="en-US" altLang="zh-CN" sz="1100"/>
              <a:t>T = 24° </a:t>
            </a:r>
            <a:r>
              <a:rPr lang="zh-CN" altLang="en-US" sz="1100"/>
              <a:t>作基波最小二乘：</a:t>
            </a:r>
            <a:r>
              <a:rPr lang="en-US" altLang="zh-CN" sz="1100"/>
              <a:t>17 </a:t>
            </a:r>
            <a:r>
              <a:rPr lang="zh-CN" altLang="en-US" sz="1100"/>
              <a:t>点 </a:t>
            </a:r>
            <a:r>
              <a:rPr lang="en-US" altLang="zh-CN" sz="1100"/>
              <a:t>R² = 0.858</a:t>
            </a:r>
            <a:r>
              <a:rPr lang="zh-CN" altLang="en-US" sz="1100"/>
              <a:t>、最大残差 </a:t>
            </a:r>
            <a:r>
              <a:rPr lang="en-US" altLang="zh-CN" sz="1100"/>
              <a:t>36.6 mV</a:t>
            </a:r>
            <a:r>
              <a:rPr lang="zh-CN" altLang="en-US" sz="1100"/>
              <a:t>；剔除 </a:t>
            </a:r>
            <a:r>
              <a:rPr lang="en-US" altLang="zh-CN" sz="1100"/>
              <a:t>2 </a:t>
            </a:r>
            <a:r>
              <a:rPr lang="zh-CN" altLang="en-US" sz="1100"/>
              <a:t>点后 </a:t>
            </a:r>
            <a:r>
              <a:rPr lang="en-US" altLang="zh-CN" sz="1100"/>
              <a:t>A = 58.12 mV</a:t>
            </a:r>
            <a:r>
              <a:rPr lang="zh-CN" altLang="en-US" sz="1100"/>
              <a:t>、</a:t>
            </a:r>
            <a:r>
              <a:rPr lang="en-US" altLang="zh-CN" sz="1100"/>
              <a:t>R² = 0.977</a:t>
            </a:r>
            <a:r>
              <a:rPr lang="zh-CN" altLang="en-US" sz="1100"/>
              <a:t>、残差 </a:t>
            </a:r>
            <a:r>
              <a:rPr lang="en-US" altLang="zh-CN" sz="1100"/>
              <a:t>rms 6.10 mV</a:t>
            </a:r>
            <a:r>
              <a:rPr lang="zh-CN" altLang="en-US" sz="1100"/>
              <a:t>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现象</a:t>
            </a:r>
            <a:r>
              <a:rPr lang="en-US" altLang="zh-CN" sz="1100"/>
              <a:t>】  ① </a:t>
            </a:r>
            <a:r>
              <a:rPr lang="zh-CN" altLang="en-US" sz="1100"/>
              <a:t>相邻极值间隔恒为 </a:t>
            </a:r>
            <a:r>
              <a:rPr lang="en-US" altLang="zh-CN" sz="1100"/>
              <a:t>12°</a:t>
            </a:r>
            <a:r>
              <a:rPr lang="zh-CN" altLang="en-US" sz="1100"/>
              <a:t>，两次正峰与两次负峰重复性很好；② </a:t>
            </a:r>
            <a:r>
              <a:rPr lang="en-US" altLang="zh-CN" sz="1100"/>
              <a:t>θ = 27° </a:t>
            </a:r>
            <a:r>
              <a:rPr lang="zh-CN" altLang="en-US" sz="1100"/>
              <a:t>读到 </a:t>
            </a:r>
            <a:r>
              <a:rPr lang="en-US" altLang="zh-CN" sz="1100"/>
              <a:t>0</a:t>
            </a:r>
            <a:r>
              <a:rPr lang="zh-CN" altLang="en-US" sz="1100"/>
              <a:t>、</a:t>
            </a:r>
            <a:r>
              <a:rPr lang="en-US" altLang="zh-CN" sz="1100"/>
              <a:t>θ = 45° </a:t>
            </a:r>
            <a:r>
              <a:rPr lang="zh-CN" altLang="en-US" sz="1100"/>
              <a:t>读到 −</a:t>
            </a:r>
            <a:r>
              <a:rPr lang="en-US" altLang="zh-CN" sz="1100"/>
              <a:t>1.1 mV</a:t>
            </a:r>
            <a:r>
              <a:rPr lang="zh-CN" altLang="en-US" sz="1100"/>
              <a:t>，模型预测 </a:t>
            </a:r>
            <a:r>
              <a:rPr lang="en-US" altLang="zh-CN" sz="1100"/>
              <a:t>+39.1 </a:t>
            </a:r>
            <a:r>
              <a:rPr lang="zh-CN" altLang="en-US" sz="1100"/>
              <a:t>与 −</a:t>
            </a:r>
            <a:r>
              <a:rPr lang="en-US" altLang="zh-CN" sz="1100"/>
              <a:t>43.1 mV</a:t>
            </a:r>
            <a:r>
              <a:rPr lang="zh-CN" altLang="en-US" sz="1100"/>
              <a:t>，偏离约 </a:t>
            </a:r>
            <a:r>
              <a:rPr lang="en-US" altLang="zh-CN" sz="1100"/>
              <a:t>0.7 </a:t>
            </a:r>
            <a:r>
              <a:rPr lang="zh-CN" altLang="en-US" sz="1100"/>
              <a:t>倍幅值，而其余各点均不超过 </a:t>
            </a:r>
            <a:r>
              <a:rPr lang="en-US" altLang="zh-CN" sz="1100"/>
              <a:t>11.5 mV</a:t>
            </a:r>
            <a:r>
              <a:rPr lang="zh-CN" altLang="en-US" sz="1100"/>
              <a:t>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结论</a:t>
            </a:r>
            <a:r>
              <a:rPr lang="en-US" altLang="zh-CN" sz="1100"/>
              <a:t>】  </a:t>
            </a:r>
            <a:r>
              <a:rPr lang="zh-CN" altLang="en-US" sz="1100"/>
              <a:t>周期 </a:t>
            </a:r>
            <a:r>
              <a:rPr lang="en-US" altLang="zh-CN" sz="1100"/>
              <a:t>T = 24°</a:t>
            </a:r>
            <a:r>
              <a:rPr lang="zh-CN" altLang="en-US" sz="1100"/>
              <a:t>（由极值位置直接定出，不依赖拟合），齿数 </a:t>
            </a:r>
            <a:r>
              <a:rPr lang="en-US" altLang="zh-CN" sz="1100"/>
              <a:t>N = 360/24 = 15</a:t>
            </a:r>
            <a:r>
              <a:rPr lang="zh-CN" altLang="en-US" sz="1100"/>
              <a:t>；峰峰值 </a:t>
            </a:r>
            <a:r>
              <a:rPr lang="en-US" altLang="zh-CN" sz="1100"/>
              <a:t>113.8 mV</a:t>
            </a:r>
            <a:r>
              <a:rPr lang="zh-CN" altLang="en-US" sz="1100"/>
              <a:t>；过零灵敏度 </a:t>
            </a:r>
            <a:r>
              <a:rPr lang="en-US" altLang="zh-CN" sz="1100"/>
              <a:t>15.22 mV/°</a:t>
            </a:r>
            <a:r>
              <a:rPr lang="zh-CN" altLang="en-US" sz="1100"/>
              <a:t>，线性区 </a:t>
            </a:r>
            <a:r>
              <a:rPr lang="en-US" altLang="zh-CN" sz="1100"/>
              <a:t>±2.58°</a:t>
            </a:r>
            <a:r>
              <a:rPr lang="zh-CN" altLang="en-US" sz="1100"/>
              <a:t>，实际角分辨率 </a:t>
            </a:r>
            <a:r>
              <a:rPr lang="en-US" altLang="zh-CN" sz="1100"/>
              <a:t>0.40°</a:t>
            </a:r>
            <a:r>
              <a:rPr lang="zh-CN" altLang="en-US" sz="1100"/>
              <a:t>。两个坏点的实测值都落在模型过零位置差约 </a:t>
            </a:r>
            <a:r>
              <a:rPr lang="en-US" altLang="zh-CN" sz="1100"/>
              <a:t>3°</a:t>
            </a:r>
            <a:r>
              <a:rPr lang="zh-CN" altLang="en-US" sz="1100"/>
              <a:t>（恰一个采样步长）处，故判为转齿时计数错位，不是传感器异常。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732E-07A0-4380-A6B3-AB0A046BF69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069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/>
              <a:t>【</a:t>
            </a:r>
            <a:r>
              <a:rPr lang="zh-CN" altLang="en-US" sz="1100"/>
              <a:t>数据</a:t>
            </a:r>
            <a:r>
              <a:rPr lang="en-US" altLang="zh-CN" sz="1100"/>
              <a:t>】  </a:t>
            </a:r>
            <a:r>
              <a:rPr lang="zh-CN" altLang="en-US" sz="1100"/>
              <a:t>写入 </a:t>
            </a:r>
            <a:r>
              <a:rPr lang="en-US" altLang="zh-CN" sz="1100"/>
              <a:t>00110011</a:t>
            </a:r>
            <a:r>
              <a:rPr lang="zh-CN" altLang="en-US" sz="1100"/>
              <a:t>；读出 </a:t>
            </a:r>
            <a:r>
              <a:rPr lang="en-US" altLang="zh-CN" sz="1100"/>
              <a:t>0.003 / 0.002 / 1.928 / 1.928 / 0.003 / 0.003 / 1.928 / 1.928 V</a:t>
            </a:r>
            <a:r>
              <a:rPr lang="zh-CN" altLang="en-US" sz="1100"/>
              <a:t>。低电平组最大 </a:t>
            </a:r>
            <a:r>
              <a:rPr lang="en-US" altLang="zh-CN" sz="1100"/>
              <a:t>0.003 V</a:t>
            </a:r>
            <a:r>
              <a:rPr lang="zh-CN" altLang="en-US" sz="1100"/>
              <a:t>，高电平组最小 </a:t>
            </a:r>
            <a:r>
              <a:rPr lang="en-US" altLang="zh-CN" sz="1100"/>
              <a:t>1.928 V</a:t>
            </a:r>
            <a:r>
              <a:rPr lang="zh-CN" altLang="en-US" sz="1100"/>
              <a:t>，电平差 </a:t>
            </a:r>
            <a:r>
              <a:rPr lang="en-US" altLang="zh-CN" sz="1100"/>
              <a:t>1.925 V</a:t>
            </a:r>
            <a:r>
              <a:rPr lang="zh-CN" altLang="en-US" sz="1100"/>
              <a:t>；取中点 </a:t>
            </a:r>
            <a:r>
              <a:rPr lang="en-US" altLang="zh-CN" sz="1100"/>
              <a:t>0.965 V </a:t>
            </a:r>
            <a:r>
              <a:rPr lang="zh-CN" altLang="en-US" sz="1100"/>
              <a:t>作判决。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现象</a:t>
            </a:r>
            <a:r>
              <a:rPr lang="en-US" altLang="zh-CN" sz="1100"/>
              <a:t>】  </a:t>
            </a:r>
            <a:r>
              <a:rPr lang="zh-CN" altLang="en-US" sz="1100"/>
              <a:t>两组电平之间没有任何重叠，两侧噪声容限各约 </a:t>
            </a:r>
            <a:r>
              <a:rPr lang="en-US" altLang="zh-CN" sz="1100"/>
              <a:t>0.96 V</a:t>
            </a:r>
            <a:r>
              <a:rPr lang="zh-CN" altLang="en-US" sz="1100"/>
              <a:t>，即电平差的一半；输出是干净的高</a:t>
            </a:r>
            <a:r>
              <a:rPr lang="en-US" altLang="zh-CN" sz="1100"/>
              <a:t>/</a:t>
            </a:r>
            <a:r>
              <a:rPr lang="zh-CN" altLang="en-US" sz="1100"/>
              <a:t>低二值量而非模拟量。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结论</a:t>
            </a:r>
            <a:r>
              <a:rPr lang="en-US" altLang="zh-CN" sz="1100"/>
              <a:t>】  </a:t>
            </a:r>
            <a:r>
              <a:rPr lang="zh-CN" altLang="en-US" sz="1100"/>
              <a:t>译码结果 </a:t>
            </a:r>
            <a:r>
              <a:rPr lang="en-US" altLang="zh-CN" sz="1100"/>
              <a:t>00110011</a:t>
            </a:r>
            <a:r>
              <a:rPr lang="zh-CN" altLang="en-US" sz="1100"/>
              <a:t>（</a:t>
            </a:r>
            <a:r>
              <a:rPr lang="en-US" altLang="zh-CN" sz="1100"/>
              <a:t>= 0x33 = 51</a:t>
            </a:r>
            <a:r>
              <a:rPr lang="zh-CN" altLang="en-US" sz="1100"/>
              <a:t>）与写入逐位一致，误码 </a:t>
            </a:r>
            <a:r>
              <a:rPr lang="en-US" altLang="zh-CN" sz="1100"/>
              <a:t>0/8</a:t>
            </a:r>
            <a:r>
              <a:rPr lang="zh-CN" altLang="en-US" sz="1100"/>
              <a:t>，</a:t>
            </a:r>
            <a:r>
              <a:rPr lang="en-US" altLang="zh-CN" sz="1100"/>
              <a:t>GMR </a:t>
            </a:r>
            <a:r>
              <a:rPr lang="zh-CN" altLang="en-US" sz="1100"/>
              <a:t>读出头可正确还原磁卡信息。同时观察到高电平 </a:t>
            </a:r>
            <a:r>
              <a:rPr lang="en-US" altLang="zh-CN" sz="1100"/>
              <a:t>1.928 V </a:t>
            </a:r>
            <a:r>
              <a:rPr lang="zh-CN" altLang="en-US" sz="1100"/>
              <a:t>已接近输出级上限，</a:t>
            </a:r>
            <a:r>
              <a:rPr lang="en-US" altLang="zh-CN" sz="1100"/>
              <a:t>"</a:t>
            </a:r>
            <a:r>
              <a:rPr lang="zh-CN" altLang="en-US" sz="1100"/>
              <a:t>高电平一致</a:t>
            </a:r>
            <a:r>
              <a:rPr lang="en-US" altLang="zh-CN" sz="1100"/>
              <a:t>"</a:t>
            </a:r>
            <a:r>
              <a:rPr lang="zh-CN" altLang="en-US" sz="1100"/>
              <a:t>部分反映的是钳位而非磁阻线性响应；且 </a:t>
            </a:r>
            <a:r>
              <a:rPr lang="en-US" altLang="zh-CN" sz="1100"/>
              <a:t>0/8 </a:t>
            </a:r>
            <a:r>
              <a:rPr lang="zh-CN" altLang="en-US" sz="1100"/>
              <a:t>按三法则只能给出误码率 </a:t>
            </a:r>
            <a:r>
              <a:rPr lang="en-US" altLang="zh-CN" sz="1100"/>
              <a:t>95 % </a:t>
            </a:r>
            <a:r>
              <a:rPr lang="zh-CN" altLang="en-US" sz="1100"/>
              <a:t>上限约 </a:t>
            </a:r>
            <a:r>
              <a:rPr lang="en-US" altLang="zh-CN" sz="1100"/>
              <a:t>37.5 %</a:t>
            </a:r>
            <a:r>
              <a:rPr lang="zh-CN" altLang="en-US" sz="1100"/>
              <a:t>，故</a:t>
            </a:r>
            <a:r>
              <a:rPr lang="en-US" altLang="zh-CN" sz="1100"/>
              <a:t>"</a:t>
            </a:r>
            <a:r>
              <a:rPr lang="zh-CN" altLang="en-US" sz="1100"/>
              <a:t>无误码</a:t>
            </a:r>
            <a:r>
              <a:rPr lang="en-US" altLang="zh-CN" sz="1100"/>
              <a:t>"</a:t>
            </a:r>
            <a:r>
              <a:rPr lang="zh-CN" altLang="en-US" sz="1100"/>
              <a:t>仅在该置信水平内成立。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732E-07A0-4380-A6B3-AB0A046BF69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96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/>
              <a:t>【</a:t>
            </a:r>
            <a:r>
              <a:rPr lang="zh-CN" altLang="en-US" sz="1100"/>
              <a:t>数据</a:t>
            </a:r>
            <a:r>
              <a:rPr lang="en-US" altLang="zh-CN" sz="1100"/>
              <a:t>】  </a:t>
            </a:r>
            <a:r>
              <a:rPr lang="zh-CN" altLang="en-US" sz="1100"/>
              <a:t>测电流：</a:t>
            </a:r>
            <a:r>
              <a:rPr lang="en-US" altLang="zh-CN" sz="1100"/>
              <a:t>±300 mA </a:t>
            </a:r>
            <a:r>
              <a:rPr lang="zh-CN" altLang="en-US" sz="1100"/>
              <a:t>两行各 </a:t>
            </a:r>
            <a:r>
              <a:rPr lang="en-US" altLang="zh-CN" sz="1100"/>
              <a:t>7 </a:t>
            </a:r>
            <a:r>
              <a:rPr lang="zh-CN" altLang="en-US" sz="1100"/>
              <a:t>点。低偏置拟合 </a:t>
            </a:r>
            <a:r>
              <a:rPr lang="en-US" altLang="zh-CN" sz="1100"/>
              <a:t>U = 25.914 + 0.015464·I</a:t>
            </a:r>
            <a:r>
              <a:rPr lang="zh-CN" altLang="en-US" sz="1100"/>
              <a:t>，</a:t>
            </a:r>
            <a:r>
              <a:rPr lang="en-US" altLang="zh-CN" sz="1100"/>
              <a:t>R² = 0.99839</a:t>
            </a:r>
            <a:r>
              <a:rPr lang="zh-CN" altLang="en-US" sz="1100"/>
              <a:t>；适当偏置 </a:t>
            </a:r>
            <a:r>
              <a:rPr lang="en-US" altLang="zh-CN" sz="1100"/>
              <a:t>U = 129.357 + 0.018250·I</a:t>
            </a:r>
            <a:r>
              <a:rPr lang="zh-CN" altLang="en-US" sz="1100"/>
              <a:t>，</a:t>
            </a:r>
            <a:r>
              <a:rPr lang="en-US" altLang="zh-CN" sz="1100"/>
              <a:t>R² = 0.99765</a:t>
            </a:r>
            <a:r>
              <a:rPr lang="zh-CN" altLang="en-US" sz="1100"/>
              <a:t>。开关：四个阈值 </a:t>
            </a:r>
            <a:r>
              <a:rPr lang="en-US" altLang="zh-CN" sz="1100"/>
              <a:t>15.4 / 18.5 / 16.7 / 19.1 mA</a:t>
            </a:r>
            <a:r>
              <a:rPr lang="zh-CN" altLang="en-US" sz="1100"/>
              <a:t>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现象</a:t>
            </a:r>
            <a:r>
              <a:rPr lang="en-US" altLang="zh-CN" sz="1100"/>
              <a:t>】  ① </a:t>
            </a:r>
            <a:r>
              <a:rPr lang="zh-CN" altLang="en-US" sz="1100"/>
              <a:t>灵敏度由 </a:t>
            </a:r>
            <a:r>
              <a:rPr lang="en-US" altLang="zh-CN" sz="1100"/>
              <a:t>15.46 </a:t>
            </a:r>
            <a:r>
              <a:rPr lang="zh-CN" altLang="en-US" sz="1100"/>
              <a:t>升到 </a:t>
            </a:r>
            <a:r>
              <a:rPr lang="en-US" altLang="zh-CN" sz="1100"/>
              <a:t>18.25 µV/mA</a:t>
            </a:r>
            <a:r>
              <a:rPr lang="zh-CN" altLang="en-US" sz="1100"/>
              <a:t>，最大残差由 </a:t>
            </a:r>
            <a:r>
              <a:rPr lang="en-US" altLang="zh-CN" sz="1100"/>
              <a:t>0.186 </a:t>
            </a:r>
            <a:r>
              <a:rPr lang="zh-CN" altLang="en-US" sz="1100"/>
              <a:t>升到 </a:t>
            </a:r>
            <a:r>
              <a:rPr lang="en-US" altLang="zh-CN" sz="1100"/>
              <a:t>0.343 mV</a:t>
            </a:r>
            <a:r>
              <a:rPr lang="zh-CN" altLang="en-US" sz="1100"/>
              <a:t>，非线性度由 </a:t>
            </a:r>
            <a:r>
              <a:rPr lang="en-US" altLang="zh-CN" sz="1100"/>
              <a:t>2.00 % </a:t>
            </a:r>
            <a:r>
              <a:rPr lang="zh-CN" altLang="en-US" sz="1100"/>
              <a:t>升到 </a:t>
            </a:r>
            <a:r>
              <a:rPr lang="en-US" altLang="zh-CN" sz="1100"/>
              <a:t>3.12 % FS</a:t>
            </a:r>
            <a:r>
              <a:rPr lang="zh-CN" altLang="en-US" sz="1100"/>
              <a:t>；两组残差符号都是</a:t>
            </a:r>
            <a:r>
              <a:rPr lang="en-US" altLang="zh-CN" sz="1100"/>
              <a:t>"</a:t>
            </a:r>
            <a:r>
              <a:rPr lang="zh-CN" altLang="en-US" sz="1100"/>
              <a:t>负</a:t>
            </a:r>
            <a:r>
              <a:rPr lang="en-US" altLang="zh-CN" sz="1100"/>
              <a:t>—</a:t>
            </a:r>
            <a:r>
              <a:rPr lang="zh-CN" altLang="en-US" sz="1100"/>
              <a:t>正</a:t>
            </a:r>
            <a:r>
              <a:rPr lang="en-US" altLang="zh-CN" sz="1100"/>
              <a:t>—</a:t>
            </a:r>
            <a:r>
              <a:rPr lang="zh-CN" altLang="en-US" sz="1100"/>
              <a:t>负</a:t>
            </a:r>
            <a:r>
              <a:rPr lang="en-US" altLang="zh-CN" sz="1100"/>
              <a:t>"</a:t>
            </a:r>
            <a:r>
              <a:rPr lang="zh-CN" altLang="en-US" sz="1100"/>
              <a:t>的系统性弯曲，不是随机散布。② 开关动作点两侧（</a:t>
            </a:r>
            <a:r>
              <a:rPr lang="en-US" altLang="zh-CN" sz="1100"/>
              <a:t>19.1 </a:t>
            </a:r>
            <a:r>
              <a:rPr lang="zh-CN" altLang="en-US" sz="1100"/>
              <a:t>与 </a:t>
            </a:r>
            <a:r>
              <a:rPr lang="en-US" altLang="zh-CN" sz="1100"/>
              <a:t>18.5 mA</a:t>
            </a:r>
            <a:r>
              <a:rPr lang="zh-CN" altLang="en-US" sz="1100"/>
              <a:t>）接近，释放点两侧（</a:t>
            </a:r>
            <a:r>
              <a:rPr lang="en-US" altLang="zh-CN" sz="1100"/>
              <a:t>15.4 </a:t>
            </a:r>
            <a:r>
              <a:rPr lang="zh-CN" altLang="en-US" sz="1100"/>
              <a:t>与 </a:t>
            </a:r>
            <a:r>
              <a:rPr lang="en-US" altLang="zh-CN" sz="1100"/>
              <a:t>16.7 mA</a:t>
            </a:r>
            <a:r>
              <a:rPr lang="zh-CN" altLang="en-US" sz="1100"/>
              <a:t>）差得多；逐格记录区仅有的两个电平格（</a:t>
            </a:r>
            <a:r>
              <a:rPr lang="en-US" altLang="zh-CN" sz="1100"/>
              <a:t>+10 mA→</a:t>
            </a:r>
            <a:r>
              <a:rPr lang="zh-CN" altLang="en-US" sz="1100"/>
              <a:t>低、−</a:t>
            </a:r>
            <a:r>
              <a:rPr lang="en-US" altLang="zh-CN" sz="1100"/>
              <a:t>20 mA→</a:t>
            </a:r>
            <a:r>
              <a:rPr lang="zh-CN" altLang="en-US" sz="1100"/>
              <a:t>高）与四个阈值自洽。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结论</a:t>
            </a:r>
            <a:r>
              <a:rPr lang="en-US" altLang="zh-CN" sz="1100"/>
              <a:t>】  </a:t>
            </a:r>
            <a:r>
              <a:rPr lang="zh-CN" altLang="en-US" sz="1100"/>
              <a:t>偏置磁场使灵敏度提高 </a:t>
            </a:r>
            <a:r>
              <a:rPr lang="en-US" altLang="zh-CN" sz="1100"/>
              <a:t>18.0 %</a:t>
            </a:r>
            <a:r>
              <a:rPr lang="zh-CN" altLang="en-US" sz="1100"/>
              <a:t>，代价是非线性度增加约 </a:t>
            </a:r>
            <a:r>
              <a:rPr lang="en-US" altLang="zh-CN" sz="1100"/>
              <a:t>1.1 </a:t>
            </a:r>
            <a:r>
              <a:rPr lang="zh-CN" altLang="en-US" sz="1100"/>
              <a:t>个百分点</a:t>
            </a:r>
            <a:r>
              <a:rPr lang="en-US" altLang="zh-CN" sz="1100"/>
              <a:t>——</a:t>
            </a:r>
            <a:r>
              <a:rPr lang="zh-CN" altLang="en-US" sz="1100"/>
              <a:t>两者是工作点移动的一体两面；残差的系统形状说明它来自 </a:t>
            </a:r>
            <a:r>
              <a:rPr lang="en-US" altLang="zh-CN" sz="1100"/>
              <a:t>GMR </a:t>
            </a:r>
            <a:r>
              <a:rPr lang="zh-CN" altLang="en-US" sz="1100"/>
              <a:t>磁阻曲线本身的非线性，可用分段拟合或查表校正消除。开关构成带回差的施密特特性，平均回差 </a:t>
            </a:r>
            <a:r>
              <a:rPr lang="en-US" altLang="zh-CN" sz="1100"/>
              <a:t>2.75 mA</a:t>
            </a:r>
            <a:r>
              <a:rPr lang="zh-CN" altLang="en-US" sz="1100"/>
              <a:t>；但逐格步长 </a:t>
            </a:r>
            <a:r>
              <a:rPr lang="en-US" altLang="zh-CN" sz="1100"/>
              <a:t>10 mA </a:t>
            </a:r>
            <a:r>
              <a:rPr lang="zh-CN" altLang="en-US" sz="1100"/>
              <a:t>决定阈值不确定度约 </a:t>
            </a:r>
            <a:r>
              <a:rPr lang="en-US" altLang="zh-CN" sz="1100"/>
              <a:t>±5 mA</a:t>
            </a:r>
            <a:r>
              <a:rPr lang="zh-CN" altLang="en-US" sz="1100"/>
              <a:t>，大于两侧回差之差 </a:t>
            </a:r>
            <a:r>
              <a:rPr lang="en-US" altLang="zh-CN" sz="1100"/>
              <a:t>1.90 mA</a:t>
            </a:r>
            <a:r>
              <a:rPr lang="zh-CN" altLang="en-US" sz="1100"/>
              <a:t>，因此本次数据不支持</a:t>
            </a:r>
            <a:r>
              <a:rPr lang="en-US" altLang="zh-CN" sz="1100"/>
              <a:t>"</a:t>
            </a:r>
            <a:r>
              <a:rPr lang="zh-CN" altLang="en-US" sz="1100"/>
              <a:t>回差存在物理不对称</a:t>
            </a:r>
            <a:r>
              <a:rPr lang="en-US" altLang="zh-CN" sz="1100"/>
              <a:t>"</a:t>
            </a:r>
            <a:r>
              <a:rPr lang="zh-CN" altLang="en-US" sz="1100"/>
              <a:t>这一结论。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732E-07A0-4380-A6B3-AB0A046BF69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851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/>
              <a:t>【</a:t>
            </a:r>
            <a:r>
              <a:rPr lang="zh-CN" altLang="en-US" sz="1100"/>
              <a:t>数据</a:t>
            </a:r>
            <a:r>
              <a:rPr lang="en-US" altLang="zh-CN" sz="1100"/>
              <a:t>】  </a:t>
            </a:r>
            <a:r>
              <a:rPr lang="zh-CN" altLang="en-US" sz="1100"/>
              <a:t>零点一致性：</a:t>
            </a:r>
            <a:r>
              <a:rPr lang="en-US" altLang="zh-CN" sz="1100"/>
              <a:t>I = 0 </a:t>
            </a:r>
            <a:r>
              <a:rPr lang="zh-CN" altLang="en-US" sz="1100"/>
              <a:t>处下降段 </a:t>
            </a:r>
            <a:r>
              <a:rPr lang="en-US" altLang="zh-CN" sz="1100"/>
              <a:t>1.594</a:t>
            </a:r>
            <a:r>
              <a:rPr lang="zh-CN" altLang="en-US" sz="1100"/>
              <a:t>、上升段 </a:t>
            </a:r>
            <a:r>
              <a:rPr lang="en-US" altLang="zh-CN" sz="1100"/>
              <a:t>1.596</a:t>
            </a:r>
            <a:r>
              <a:rPr lang="zh-CN" altLang="en-US" sz="1100"/>
              <a:t>，差 </a:t>
            </a:r>
            <a:r>
              <a:rPr lang="en-US" altLang="zh-CN" sz="1100"/>
              <a:t>0.002</a:t>
            </a:r>
            <a:r>
              <a:rPr lang="zh-CN" altLang="en-US" sz="1100"/>
              <a:t>（</a:t>
            </a:r>
            <a:r>
              <a:rPr lang="en-US" altLang="zh-CN" sz="1100"/>
              <a:t>0.13 %</a:t>
            </a:r>
            <a:r>
              <a:rPr lang="zh-CN" altLang="en-US" sz="1100"/>
              <a:t>）。扫描回线最大偏差 </a:t>
            </a:r>
            <a:r>
              <a:rPr lang="en-US" altLang="zh-CN" sz="1100"/>
              <a:t>1.44 % FS</a:t>
            </a:r>
            <a:r>
              <a:rPr lang="zh-CN" altLang="en-US" sz="1100"/>
              <a:t>。</a:t>
            </a:r>
            <a:r>
              <a:rPr lang="en-US" altLang="zh-CN" sz="1100"/>
              <a:t>B</a:t>
            </a:r>
            <a:r>
              <a:rPr lang="zh-CN" altLang="en-US" sz="1100"/>
              <a:t>、</a:t>
            </a:r>
            <a:r>
              <a:rPr lang="en-US" altLang="zh-CN" sz="1100"/>
              <a:t>U</a:t>
            </a:r>
            <a:r>
              <a:rPr lang="zh-CN" altLang="en-US" sz="1100"/>
              <a:t>、</a:t>
            </a:r>
            <a:r>
              <a:rPr lang="en-US" altLang="zh-CN" sz="1100"/>
              <a:t>R </a:t>
            </a:r>
            <a:r>
              <a:rPr lang="zh-CN" altLang="en-US" sz="1100"/>
              <a:t>三列未填，仪器 </a:t>
            </a:r>
            <a:r>
              <a:rPr lang="en-US" altLang="zh-CN" sz="1100"/>
              <a:t>B—I </a:t>
            </a:r>
            <a:r>
              <a:rPr lang="zh-CN" altLang="en-US" sz="1100"/>
              <a:t>标定曲线未记录。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现象</a:t>
            </a:r>
            <a:r>
              <a:rPr lang="en-US" altLang="zh-CN" sz="1100"/>
              <a:t>】  </a:t>
            </a:r>
            <a:r>
              <a:rPr lang="zh-CN" altLang="en-US" sz="1100"/>
              <a:t>电流归零后读数未回到同一值，说明磁路存在剩磁，</a:t>
            </a:r>
            <a:r>
              <a:rPr lang="en-US" altLang="zh-CN" sz="1100"/>
              <a:t>"</a:t>
            </a:r>
            <a:r>
              <a:rPr lang="zh-CN" altLang="en-US" sz="1100"/>
              <a:t>零磁场</a:t>
            </a:r>
            <a:r>
              <a:rPr lang="en-US" altLang="zh-CN" sz="1100"/>
              <a:t>"</a:t>
            </a:r>
            <a:r>
              <a:rPr lang="zh-CN" altLang="en-US" sz="1100"/>
              <a:t>并非真正的 </a:t>
            </a:r>
            <a:r>
              <a:rPr lang="en-US" altLang="zh-CN" sz="1100"/>
              <a:t>B = 0</a:t>
            </a:r>
            <a:r>
              <a:rPr lang="zh-CN" altLang="en-US" sz="1100"/>
              <a:t>；磁滞偏差与不对称量都在 </a:t>
            </a:r>
            <a:r>
              <a:rPr lang="en-US" altLang="zh-CN" sz="1100"/>
              <a:t>1~1.5 % </a:t>
            </a:r>
            <a:r>
              <a:rPr lang="zh-CN" altLang="en-US" sz="1100"/>
              <a:t>量级，远大于电表量化误差（约 </a:t>
            </a:r>
            <a:r>
              <a:rPr lang="en-US" altLang="zh-CN" sz="1100"/>
              <a:t>0.03 %</a:t>
            </a:r>
            <a:r>
              <a:rPr lang="zh-CN" altLang="en-US" sz="1100"/>
              <a:t>）。</a:t>
            </a:r>
          </a:p>
          <a:p>
            <a:r>
              <a:rPr lang="en-US" altLang="zh-CN" sz="1100"/>
              <a:t>【</a:t>
            </a:r>
            <a:r>
              <a:rPr lang="zh-CN" altLang="en-US" sz="1100"/>
              <a:t>结论</a:t>
            </a:r>
            <a:r>
              <a:rPr lang="en-US" altLang="zh-CN" sz="1100"/>
              <a:t>】  </a:t>
            </a:r>
            <a:r>
              <a:rPr lang="zh-CN" altLang="en-US" sz="1100"/>
              <a:t>四条结论：① 磁阻曲线呈饱和形，</a:t>
            </a:r>
            <a:r>
              <a:rPr lang="en-US" altLang="zh-CN" sz="1100"/>
              <a:t>ΔR/R₀ = 13.93 %</a:t>
            </a:r>
            <a:r>
              <a:rPr lang="zh-CN" altLang="en-US" sz="1100"/>
              <a:t>、</a:t>
            </a:r>
            <a:r>
              <a:rPr lang="en-US" altLang="zh-CN" sz="1100"/>
              <a:t>I½ = 31.4 mA</a:t>
            </a:r>
            <a:r>
              <a:rPr lang="zh-CN" altLang="en-US" sz="1100"/>
              <a:t>，灵敏区在低场陡峭段；② 梯度模式输出周期 </a:t>
            </a:r>
            <a:r>
              <a:rPr lang="en-US" altLang="zh-CN" sz="1100"/>
              <a:t>24° </a:t>
            </a:r>
            <a:r>
              <a:rPr lang="zh-CN" altLang="en-US" sz="1100"/>
              <a:t>的唯一对应 </a:t>
            </a:r>
            <a:r>
              <a:rPr lang="en-US" altLang="zh-CN" sz="1100"/>
              <a:t>15 </a:t>
            </a:r>
            <a:r>
              <a:rPr lang="zh-CN" altLang="en-US" sz="1100"/>
              <a:t>齿，灵敏度 </a:t>
            </a:r>
            <a:r>
              <a:rPr lang="en-US" altLang="zh-CN" sz="1100"/>
              <a:t>15.22 mV/°</a:t>
            </a:r>
            <a:r>
              <a:rPr lang="zh-CN" altLang="en-US" sz="1100"/>
              <a:t>；③ 开关给</a:t>
            </a:r>
            <a:r>
              <a:rPr lang="en-US" altLang="zh-CN" sz="1100"/>
              <a:t>"</a:t>
            </a:r>
            <a:r>
              <a:rPr lang="zh-CN" altLang="en-US" sz="1100"/>
              <a:t>有无</a:t>
            </a:r>
            <a:r>
              <a:rPr lang="en-US" altLang="zh-CN" sz="1100"/>
              <a:t>"</a:t>
            </a:r>
            <a:r>
              <a:rPr lang="zh-CN" altLang="en-US" sz="1100"/>
              <a:t>、线性给</a:t>
            </a:r>
            <a:r>
              <a:rPr lang="en-US" altLang="zh-CN" sz="1100"/>
              <a:t>"</a:t>
            </a:r>
            <a:r>
              <a:rPr lang="zh-CN" altLang="en-US" sz="1100"/>
              <a:t>多少</a:t>
            </a:r>
            <a:r>
              <a:rPr lang="en-US" altLang="zh-CN" sz="1100"/>
              <a:t>"</a:t>
            </a:r>
            <a:r>
              <a:rPr lang="zh-CN" altLang="en-US" sz="1100"/>
              <a:t>，平均回差 </a:t>
            </a:r>
            <a:r>
              <a:rPr lang="en-US" altLang="zh-CN" sz="1100"/>
              <a:t>2.75 mA </a:t>
            </a:r>
            <a:r>
              <a:rPr lang="zh-CN" altLang="en-US" sz="1100"/>
              <a:t>是这一取舍的量化体现；④ 偏置换来 </a:t>
            </a:r>
            <a:r>
              <a:rPr lang="en-US" altLang="zh-CN" sz="1100"/>
              <a:t>18.0 % </a:t>
            </a:r>
            <a:r>
              <a:rPr lang="zh-CN" altLang="en-US" sz="1100"/>
              <a:t>灵敏度、损失约 </a:t>
            </a:r>
            <a:r>
              <a:rPr lang="en-US" altLang="zh-CN" sz="1100"/>
              <a:t>1.1 </a:t>
            </a:r>
            <a:r>
              <a:rPr lang="zh-CN" altLang="en-US" sz="1100"/>
              <a:t>个百分点线性度。数据边界：因缺 </a:t>
            </a:r>
            <a:r>
              <a:rPr lang="en-US" altLang="zh-CN" sz="1100"/>
              <a:t>B—I </a:t>
            </a:r>
            <a:r>
              <a:rPr lang="zh-CN" altLang="en-US" sz="1100"/>
              <a:t>标定，</a:t>
            </a:r>
            <a:r>
              <a:rPr lang="en-US" altLang="zh-CN" sz="1100"/>
              <a:t>13.93 % </a:t>
            </a:r>
            <a:r>
              <a:rPr lang="zh-CN" altLang="en-US" sz="1100"/>
              <a:t>是归一化相对量而非绝对电阻；受 </a:t>
            </a:r>
            <a:r>
              <a:rPr lang="en-US" altLang="zh-CN" sz="1100"/>
              <a:t>10 mA </a:t>
            </a:r>
            <a:r>
              <a:rPr lang="zh-CN" altLang="en-US" sz="1100"/>
              <a:t>步长限制，回差的细微不对称不能下定量结论。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732E-07A0-4380-A6B3-AB0A046BF69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222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</a:t>
            </a:r>
            <a:r>
              <a:rPr lang="zh-CN" altLang="en-US" sz="13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7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7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7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21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x22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原理：自旋相关散射 → 电阻随磁化取向改变</a:t>
            </a:r>
          </a:p>
        </p:txBody>
      </p:sp>
      <p:sp>
        <p:nvSpPr>
          <p:cNvPr id="23" name="tx23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2 / 7</a:t>
            </a:r>
          </a:p>
        </p:txBody>
      </p:sp>
      <p:sp>
        <p:nvSpPr>
          <p:cNvPr id="24" name="rc24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x25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把“磁化相对取向”转成“电阻变化”，因此既能测弱磁场，也能测位置与电流。</a:t>
            </a:r>
          </a:p>
        </p:txBody>
      </p:sp>
      <p:sp>
        <p:nvSpPr>
          <p:cNvPr id="26" name="tx26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机理</a:t>
            </a:r>
          </a:p>
        </p:txBody>
      </p:sp>
      <p:sp>
        <p:nvSpPr>
          <p:cNvPr id="27" name="tx27"/>
          <p:cNvSpPr txBox="1"/>
          <p:nvPr/>
        </p:nvSpPr>
        <p:spPr>
          <a:xfrm>
            <a:off x="600000" y="2240000"/>
            <a:ext cx="5296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1988 年 Baibich 在 Fe/Cr 多层膜中发现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铁磁层中 3d 电子被自旋极化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∥ 磁化 → 散射弱、自由程长（低阻通道）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⊥ 磁化 → 散射强（高阻通道）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磁化平行＝低阻，反平行＝高阻；外场驱动转向</a:t>
            </a:r>
          </a:p>
          <a:p>
            <a:pPr marL="0" indent="0"/>
            <a:r>
              <a:rPr lang="zh-CN" altLang="en-US" sz="14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对比：AMR 仅 2~5 %，GMR 达百分之几十</a:t>
            </a:r>
          </a:p>
        </p:txBody>
      </p:sp>
      <p:sp>
        <p:nvSpPr>
          <p:cNvPr id="28" name="rc28"/>
          <p:cNvSpPr/>
          <p:nvPr/>
        </p:nvSpPr>
        <p:spPr>
          <a:xfrm>
            <a:off x="600000" y="49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tx29"/>
          <p:cNvSpPr txBox="1"/>
          <p:nvPr/>
        </p:nvSpPr>
        <p:spPr>
          <a:xfrm>
            <a:off x="800000" y="5080000"/>
            <a:ext cx="4896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ΔR/R</a:t>
            </a:r>
            <a:r>
              <a:rPr lang="zh-CN" altLang="en-US" sz="1500" b="1" baseline="-25000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 = [R(B) − R(0)] / R(0) × 100 %</a:t>
            </a:r>
          </a:p>
        </p:txBody>
      </p:sp>
      <p:sp>
        <p:nvSpPr>
          <p:cNvPr id="30" name="tx30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应用方式与本次任务对应</a:t>
            </a:r>
          </a:p>
        </p:txBody>
      </p:sp>
      <p:sp>
        <p:nvSpPr>
          <p:cNvPr id="31" name="rc31"/>
          <p:cNvSpPr/>
          <p:nvPr/>
        </p:nvSpPr>
        <p:spPr>
          <a:xfrm>
            <a:off x="6296000" y="22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2" name="rc32"/>
          <p:cNvSpPr/>
          <p:nvPr/>
        </p:nvSpPr>
        <p:spPr>
          <a:xfrm>
            <a:off x="6296000" y="2240000"/>
            <a:ext cx="70000" cy="7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x33"/>
          <p:cNvSpPr txBox="1"/>
          <p:nvPr/>
        </p:nvSpPr>
        <p:spPr>
          <a:xfrm>
            <a:off x="6496000" y="23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梯度（差分）模式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6496000" y="26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两元件电阻反向变化，抑制均匀杂散场   →   任务② 齿轮角位移</a:t>
            </a:r>
          </a:p>
        </p:txBody>
      </p:sp>
      <p:sp>
        <p:nvSpPr>
          <p:cNvPr id="35" name="rc35"/>
          <p:cNvSpPr/>
          <p:nvPr/>
        </p:nvSpPr>
        <p:spPr>
          <a:xfrm>
            <a:off x="6296000" y="30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6" name="rc36"/>
          <p:cNvSpPr/>
          <p:nvPr/>
        </p:nvSpPr>
        <p:spPr>
          <a:xfrm>
            <a:off x="6296000" y="3040000"/>
            <a:ext cx="70000" cy="700000"/>
          </a:xfrm>
          <a:prstGeom prst="rect">
            <a:avLst/>
          </a:prstGeom>
          <a:solidFill>
            <a:srgbClr val="7B4EA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x37"/>
          <p:cNvSpPr txBox="1"/>
          <p:nvPr/>
        </p:nvSpPr>
        <p:spPr>
          <a:xfrm>
            <a:off x="6496000" y="31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开关模式</a:t>
            </a:r>
          </a:p>
        </p:txBody>
      </p:sp>
      <p:sp>
        <p:nvSpPr>
          <p:cNvPr id="38" name="tx38"/>
          <p:cNvSpPr txBox="1"/>
          <p:nvPr/>
        </p:nvSpPr>
        <p:spPr>
          <a:xfrm>
            <a:off x="6496000" y="34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内置迟滞，输出仅高/低电平，抗抖动   →   拓展② 磁电转换特性</a:t>
            </a:r>
          </a:p>
        </p:txBody>
      </p:sp>
      <p:sp>
        <p:nvSpPr>
          <p:cNvPr id="39" name="rc39"/>
          <p:cNvSpPr/>
          <p:nvPr/>
        </p:nvSpPr>
        <p:spPr>
          <a:xfrm>
            <a:off x="6296000" y="38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rc40"/>
          <p:cNvSpPr/>
          <p:nvPr/>
        </p:nvSpPr>
        <p:spPr>
          <a:xfrm>
            <a:off x="6296000" y="3840000"/>
            <a:ext cx="70000" cy="7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tx41"/>
          <p:cNvSpPr txBox="1"/>
          <p:nvPr/>
        </p:nvSpPr>
        <p:spPr>
          <a:xfrm>
            <a:off x="6496000" y="39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磁记录与读出</a:t>
            </a:r>
          </a:p>
        </p:txBody>
      </p:sp>
      <p:sp>
        <p:nvSpPr>
          <p:cNvPr id="42" name="tx42"/>
          <p:cNvSpPr txBox="1"/>
          <p:nvPr/>
        </p:nvSpPr>
        <p:spPr>
          <a:xfrm>
            <a:off x="6496000" y="42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读头感应磁卡局部杂散场 → 电平   →   任务③ 8 位写入读出</a:t>
            </a:r>
          </a:p>
        </p:txBody>
      </p:sp>
      <p:sp>
        <p:nvSpPr>
          <p:cNvPr id="43" name="rc43"/>
          <p:cNvSpPr/>
          <p:nvPr/>
        </p:nvSpPr>
        <p:spPr>
          <a:xfrm>
            <a:off x="6296000" y="46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4" name="rc44"/>
          <p:cNvSpPr/>
          <p:nvPr/>
        </p:nvSpPr>
        <p:spPr>
          <a:xfrm>
            <a:off x="6296000" y="4640000"/>
            <a:ext cx="70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tx45"/>
          <p:cNvSpPr txBox="1"/>
          <p:nvPr/>
        </p:nvSpPr>
        <p:spPr>
          <a:xfrm>
            <a:off x="6496000" y="47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模拟线性输出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6496000" y="50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偏置磁场决定灵敏度与线性度   →   拓展① 测量电流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c47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tx48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任务① GMR 磁阻特性：13.93 % 饱和，31 mA 半饱和</a:t>
            </a:r>
          </a:p>
        </p:txBody>
      </p:sp>
      <p:sp>
        <p:nvSpPr>
          <p:cNvPr id="49" name="tx49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3 / 7</a:t>
            </a:r>
          </a:p>
        </p:txBody>
      </p:sp>
      <p:sp>
        <p:nvSpPr>
          <p:cNvPr id="50" name="rc50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1" name="tx51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曲线低场陡峭、70 mA 后斜率降约 35 倍进入饱和，灵敏区集中在低场陡峭段。</a:t>
            </a:r>
          </a:p>
        </p:txBody>
      </p:sp>
      <p:pic>
        <p:nvPicPr>
          <p:cNvPr id="52" name="pg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53" name="rc53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4" name="tx54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ΔR/R</a:t>
            </a:r>
            <a:r>
              <a:rPr lang="zh-CN" altLang="en-US" sz="2100" b="1" baseline="-2500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 = 13.93 %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最大相对磁阻变化率（+100 mA）</a:t>
            </a:r>
          </a:p>
        </p:txBody>
      </p:sp>
      <p:sp>
        <p:nvSpPr>
          <p:cNvPr id="56" name="rc56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7" name="tx57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I½ ≈ 31.4 mA</a:t>
            </a:r>
          </a:p>
        </p:txBody>
      </p:sp>
      <p:sp>
        <p:nvSpPr>
          <p:cNvPr id="58" name="tx58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半饱和励磁电流</a:t>
            </a:r>
          </a:p>
        </p:txBody>
      </p:sp>
      <p:sp>
        <p:nvSpPr>
          <p:cNvPr id="59" name="rc59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0" name="tx60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1.44 % FS</a:t>
            </a:r>
          </a:p>
        </p:txBody>
      </p:sp>
      <p:sp>
        <p:nvSpPr>
          <p:cNvPr id="61" name="tx61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下降/上升段最大偏差（@50 mA）</a:t>
            </a:r>
          </a:p>
        </p:txBody>
      </p:sp>
      <p:sp>
        <p:nvSpPr>
          <p:cNvPr id="62" name="tx62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数据处理：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表中 B、U、R 三列未填，仅 E 列有值；该读数随 |I| 单调增大，与 R 同向，故按 ΔX/X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归一化求 ΔR/R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，横标用 I 而非 mT。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c63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" name="tx64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任务② 齿轮角位移：周期 24° ⇒ 15 齿</a:t>
            </a:r>
          </a:p>
        </p:txBody>
      </p:sp>
      <p:sp>
        <p:nvSpPr>
          <p:cNvPr id="65" name="tx65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4 / 7</a:t>
            </a:r>
          </a:p>
        </p:txBody>
      </p:sp>
      <p:sp>
        <p:nvSpPr>
          <p:cNvPr id="66" name="rc66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7" name="tx67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周期由四个极值位置定出，不依赖拟合；剔掉 2 个坏点后 R² = 0.977。</a:t>
            </a:r>
          </a:p>
        </p:txBody>
      </p:sp>
      <p:pic>
        <p:nvPicPr>
          <p:cNvPr id="68" name="pg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69" name="rc69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0" name="tx70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T = 24° → N = 15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极值 6/18/30/42°，间隔恒 12°</a:t>
            </a:r>
          </a:p>
        </p:txBody>
      </p:sp>
      <p:sp>
        <p:nvSpPr>
          <p:cNvPr id="72" name="rc72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3" name="tx73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15.22 mV/°</a:t>
            </a:r>
          </a:p>
        </p:txBody>
      </p:sp>
      <p:sp>
        <p:nvSpPr>
          <p:cNvPr id="74" name="tx74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过零灵敏度，线性区 ±2.58°</a:t>
            </a:r>
          </a:p>
        </p:txBody>
      </p:sp>
      <p:sp>
        <p:nvSpPr>
          <p:cNvPr id="75" name="rc75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6" name="tx76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0.40°</a:t>
            </a:r>
          </a:p>
        </p:txBody>
      </p:sp>
      <p:sp>
        <p:nvSpPr>
          <p:cNvPr id="77" name="tx77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实际角分辨率（受残差限制）</a:t>
            </a:r>
          </a:p>
        </p:txBody>
      </p:sp>
      <p:sp>
        <p:nvSpPr>
          <p:cNvPr id="78" name="tx78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两个坏点：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θ = 27°、45° 实测均≈0，模型预测 +39.1 / −43.1 mV；实测值恰落在模型过零差 3° 处 → 判为齿数计数错位，而非传感器异常。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c79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0" name="tx80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任务③ 磁记录与读出：8 位全对</a:t>
            </a:r>
          </a:p>
        </p:txBody>
      </p:sp>
      <p:sp>
        <p:nvSpPr>
          <p:cNvPr id="81" name="tx81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5 / 7</a:t>
            </a:r>
          </a:p>
        </p:txBody>
      </p:sp>
      <p:sp>
        <p:nvSpPr>
          <p:cNvPr id="82" name="rc82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3" name="tx83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写入 00110011（= 0x33 = 51），译码结果与写入逐位一致，误码 0/8。</a:t>
            </a:r>
          </a:p>
        </p:txBody>
      </p:sp>
      <p:pic>
        <p:nvPicPr>
          <p:cNvPr id="84" name="pg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5" name="rc85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6" name="tx86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V_th = 0.965 V</a:t>
            </a:r>
          </a:p>
        </p:txBody>
      </p:sp>
      <p:sp>
        <p:nvSpPr>
          <p:cNvPr id="87" name="tx87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判决阈值（高低组中点）</a:t>
            </a:r>
          </a:p>
        </p:txBody>
      </p:sp>
      <p:sp>
        <p:nvSpPr>
          <p:cNvPr id="88" name="rc88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9" name="tx89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±0.96 V</a:t>
            </a:r>
          </a:p>
        </p:txBody>
      </p:sp>
      <p:sp>
        <p:nvSpPr>
          <p:cNvPr id="90" name="tx90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两侧噪声容限，各约 50 % 电平差</a:t>
            </a:r>
          </a:p>
        </p:txBody>
      </p:sp>
      <p:sp>
        <p:nvSpPr>
          <p:cNvPr id="91" name="rc91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2" name="tx92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1.925 V</a:t>
            </a:r>
          </a:p>
        </p:txBody>
      </p:sp>
      <p:sp>
        <p:nvSpPr>
          <p:cNvPr id="93" name="tx93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高 1.928 V / 低 0.003 V 电平差</a:t>
            </a:r>
          </a:p>
        </p:txBody>
      </p:sp>
      <p:sp>
        <p:nvSpPr>
          <p:cNvPr id="94" name="tx94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数据边界：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高电平 1.928 V 已接近输出级上限，可能饱和钳位；0/8 误码按三法则只能给 p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95</a:t>
            </a:r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≈ 37.5 % 上限，样本太少。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c95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6" name="tx96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拓展（三选二）：测电流 · 开关特性</a:t>
            </a:r>
          </a:p>
        </p:txBody>
      </p:sp>
      <p:sp>
        <p:nvSpPr>
          <p:cNvPr id="97" name="tx97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6 / 7</a:t>
            </a:r>
          </a:p>
        </p:txBody>
      </p:sp>
      <p:sp>
        <p:nvSpPr>
          <p:cNvPr id="98" name="rc98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9" name="tx99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偏置磁场用 18 % 的灵敏度换取约 1 个百分点的线性度；开关回差 2.75 mA 提供抗抖动死区。</a:t>
            </a:r>
          </a:p>
        </p:txBody>
      </p:sp>
      <p:pic>
        <p:nvPicPr>
          <p:cNvPr id="100" name="pg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101" name="pg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102" name="tx102"/>
          <p:cNvSpPr txBox="1"/>
          <p:nvPr/>
        </p:nvSpPr>
        <p:spPr>
          <a:xfrm>
            <a:off x="600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拓展① 模拟传感器测电流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S：15.46 → 18.25 µV/mA（+18.0 %）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非线性度：2.00 → 3.12 % FS，R² &gt; 0.997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注：适当偏置校准未到位，实测零点 129.36 mV（目标 150）</a:t>
            </a:r>
          </a:p>
        </p:txBody>
      </p:sp>
      <p:sp>
        <p:nvSpPr>
          <p:cNvPr id="103" name="tx103"/>
          <p:cNvSpPr txBox="1"/>
          <p:nvPr/>
        </p:nvSpPr>
        <p:spPr>
          <a:xfrm>
            <a:off x="6292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拓展② 开关传感器磁电转换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动作 ±18.8 mA，释放 ±16.05 mA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回差：正 3.70 / 负 1.80 / 平均 2.75 mA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注：逐格步长 10 mA → 阈值不确定度 ±5 mA，两侧回差之差（1.90 mA）不作物理结论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c104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5" name="tx105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误差主线与结论</a:t>
            </a:r>
          </a:p>
        </p:txBody>
      </p:sp>
      <p:sp>
        <p:nvSpPr>
          <p:cNvPr id="106" name="tx106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7 / 7</a:t>
            </a:r>
          </a:p>
        </p:txBody>
      </p:sp>
      <p:sp>
        <p:nvSpPr>
          <p:cNvPr id="107" name="rc107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8" name="tx108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定性结论与参量测定都成立；涉及绝对磁场与回差细微不对称的量，本次数据不支持下定量结论。</a:t>
            </a:r>
          </a:p>
        </p:txBody>
      </p:sp>
      <p:sp>
        <p:nvSpPr>
          <p:cNvPr id="109" name="tx109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三条误差主线</a:t>
            </a:r>
          </a:p>
        </p:txBody>
      </p:sp>
      <p:sp>
        <p:nvSpPr>
          <p:cNvPr id="110" name="tx110"/>
          <p:cNvSpPr txBox="1"/>
          <p:nvPr/>
        </p:nvSpPr>
        <p:spPr>
          <a:xfrm>
            <a:off x="600000" y="2240000"/>
            <a:ext cx="5296000" cy="3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1  磁场标定缺失（最主要）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B、U、R 三列未填 → 只能以 I 为磁标度，ΔR/R</a:t>
            </a:r>
            <a:r>
              <a:rPr lang="zh-CN" altLang="en-US" sz="12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是归一化相对量，无绝对电阻。</a:t>
            </a:r>
          </a:p>
          <a:p>
            <a:pPr marL="0" indent="0">
              <a:spcBef>
                <a:spcPts val="700"/>
              </a:spcBef>
            </a:pPr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2  扫描路径依赖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同 |I| 处最大偏差 1.44 % FS，且集中在 dX/dI 最大的中场区 → 标定不重复被陡峭响应放大，故要求恒流源单向调节、不得回调。</a:t>
            </a:r>
          </a:p>
          <a:p>
            <a:pPr marL="0" indent="0">
              <a:spcBef>
                <a:spcPts val="700"/>
              </a:spcBef>
            </a:pPr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3  离散采样的分辨上限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角位移 3° 一格 → 3° 错位即 45 mV；开关 10 mA 一格 → 阈值 ±5 mA。</a:t>
            </a:r>
          </a:p>
        </p:txBody>
      </p:sp>
      <p:sp>
        <p:nvSpPr>
          <p:cNvPr id="111" name="tx111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四条结论</a:t>
            </a:r>
          </a:p>
        </p:txBody>
      </p:sp>
      <p:sp>
        <p:nvSpPr>
          <p:cNvPr id="112" name="tx112"/>
          <p:cNvSpPr txBox="1"/>
          <p:nvPr/>
        </p:nvSpPr>
        <p:spPr>
          <a:xfrm>
            <a:off x="6296000" y="2240000"/>
            <a:ext cx="5296000" cy="3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①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磁阻曲线呈饱和形，ΔR/R</a:t>
            </a:r>
            <a:r>
              <a:rPr lang="zh-CN" altLang="en-US" sz="13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13.93 %，I½ = 31.4 mA；工作点应取低场陡峭区。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②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梯度模式输出周期信号，可直接反推机械参数：T = 24° ⇒ 15 齿，15.22 mV/°。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③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开关与线性是两种取舍：要“有无”用开关（带回差），要“多少”用线性（需比较器与校正）。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④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偏置决定灵敏度：+18 % 灵敏度换 −1 个百分点线性度；全桥差分可同时改善两者。</a:t>
            </a:r>
          </a:p>
        </p:txBody>
      </p:sp>
      <p:sp>
        <p:nvSpPr>
          <p:cNvPr id="113" name="rc113"/>
          <p:cNvSpPr/>
          <p:nvPr/>
        </p:nvSpPr>
        <p:spPr>
          <a:xfrm>
            <a:off x="6296000" y="44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4" name="tx114"/>
          <p:cNvSpPr txBox="1"/>
          <p:nvPr/>
        </p:nvSpPr>
        <p:spPr>
          <a:xfrm>
            <a:off x="6496000" y="4580000"/>
            <a:ext cx="48960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本次数据的边界：缺 B—I 标定曲线，故 13.93 % 是归一化相对量而非绝对电阻；开关阈值受 10 mA 步长限制，不确定度 ±5 mA 大于两侧回差之差 1.90 mA。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2574</Words>
  <Application>Microsoft Office PowerPoint</Application>
  <PresentationFormat>宽屏</PresentationFormat>
  <Paragraphs>121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Microsoft YaHei</vt:lpstr>
      <vt:lpstr>Consolas</vt:lpstr>
      <vt:lpstr>GMR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巨磁阻效应及应用 答辩汇报</dc:title>
  <dc:subject>2 分钟汇报</dc:subject>
  <cp:lastModifiedBy>演员 h</cp:lastModifiedBy>
  <cp:revision>1</cp:revision>
  <dcterms:created xsi:type="dcterms:W3CDTF">2026-10-23T00:00:00Z</dcterms:created>
  <dcterms:modified xsi:type="dcterms:W3CDTF">2026-10-23T05:36:00Z</dcterms:modified>
  <dc:language>zh-CN</dc:language>
</cp:coreProperties>
</file>